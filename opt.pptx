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Quattrocen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B41C8F-4F8E-4D80-896D-398BA306FE5C}">
  <a:tblStyle styleId="{78B41C8F-4F8E-4D80-896D-398BA306FE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QuattrocentoSans-bold.fntdata"/><Relationship Id="rId10" Type="http://schemas.openxmlformats.org/officeDocument/2006/relationships/slide" Target="slides/slide3.xml"/><Relationship Id="rId32" Type="http://schemas.openxmlformats.org/officeDocument/2006/relationships/font" Target="fonts/QuattrocentoSans-regular.fntdata"/><Relationship Id="rId13" Type="http://schemas.openxmlformats.org/officeDocument/2006/relationships/slide" Target="slides/slide6.xml"/><Relationship Id="rId35" Type="http://schemas.openxmlformats.org/officeDocument/2006/relationships/font" Target="fonts/QuattrocentoSans-boldItalic.fntdata"/><Relationship Id="rId12" Type="http://schemas.openxmlformats.org/officeDocument/2006/relationships/slide" Target="slides/slide5.xml"/><Relationship Id="rId34" Type="http://schemas.openxmlformats.org/officeDocument/2006/relationships/font" Target="fonts/Quattrocento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0e4447c27_2_2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0e4447c27_2_2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0e4447c27_2_2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e4447c27_2_37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f0e4447c27_2_37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0e4447c27_2_37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0e4447c27_2_85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f0e4447c27_2_85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0e4447c27_2_85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0e4447c27_2_105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f0e4447c27_2_105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0e4447c27_2_105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0e4447c27_2_152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f0e4447c27_2_152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0e4447c27_2_152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0e4447c27_2_193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f0e4447c27_2_193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0e4447c27_2_193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0e4447c27_2_248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f0e4447c27_2_248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0e4447c27_2_248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0e4447c27_2_294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g3f0e4447c27_2_294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0e4447c27_2_294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0e4447c27_2_314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0e4447c27_2_314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0e4447c27_2_314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0e4447c27_2_398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g3f0e4447c27_2_398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0e4447c27_2_398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0e4447c27_2_440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g3f0e4447c27_2_440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0e4447c27_2_440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0e4447c27_2_498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f0e4447c27_2_498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0e4447c27_2_498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0e4447c27_2_518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g3f0e4447c27_2_518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0e4447c27_2_518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0e4447c27_2_557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g3f0e4447c27_2_557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0e4447c27_2_557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0e4447c27_2_602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0e4447c27_2_602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f0e4447c27_2_602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0e4447c27_2_622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g3f0e4447c27_2_622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f0e4447c27_2_622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0e4447c27_2_662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g3f0e4447c27_2_662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g3f0e4447c27_2_662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0e4447c27_2_709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g3f0e4447c27_2_709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f0e4447c27_2_709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0e4447c27_2_735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7" name="Google Shape;767;g3f0e4447c27_2_735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f0e4447c27_2_735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f0e4447c27_2_773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g3f0e4447c27_2_773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f0e4447c27_2_773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0e4447c27_2_848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2" name="Google Shape;882;g3f0e4447c27_2_848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f0e4447c27_2_848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f0e4447c27_2_891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6" name="Google Shape;926;g3f0e4447c27_2_891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f0e4447c27_2_891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f0e4447c27_2_953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9" name="Google Shape;989;g3f0e4447c27_2_953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f0e4447c27_2_953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f0e4447c27_2_1006:notes"/>
          <p:cNvSpPr/>
          <p:nvPr>
            <p:ph idx="2" type="sldImg"/>
          </p:nvPr>
        </p:nvSpPr>
        <p:spPr>
          <a:xfrm>
            <a:off x="124" y="0"/>
            <a:ext cx="1265131" cy="12653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3" name="Google Shape;1043;g3f0e4447c27_2_1006:notes"/>
          <p:cNvSpPr txBox="1"/>
          <p:nvPr>
            <p:ph idx="1" type="body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g3f0e4447c27_2_1006:notes"/>
          <p:cNvSpPr txBox="1"/>
          <p:nvPr>
            <p:ph idx="12" type="sldNum"/>
          </p:nvPr>
        </p:nvSpPr>
        <p:spPr>
          <a:xfrm>
            <a:off x="0" y="0"/>
            <a:ext cx="1687500" cy="126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3575" lIns="47150" spcFirstLastPara="1" rIns="47150" wrap="square" tIns="23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713743" y="-571518"/>
            <a:ext cx="1999842" cy="2000232"/>
          </a:xfrm>
          <a:prstGeom prst="ellipse">
            <a:avLst/>
          </a:prstGeom>
          <a:solidFill>
            <a:srgbClr val="0D7377">
              <a:alpha val="784"/>
            </a:srgbClr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-428541" y="3714732"/>
            <a:ext cx="1428489" cy="1428768"/>
          </a:xfrm>
          <a:prstGeom prst="ellipse">
            <a:avLst/>
          </a:prstGeom>
          <a:solidFill>
            <a:srgbClr val="D4A373">
              <a:alpha val="392"/>
            </a:srgbClr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1142759" y="571518"/>
            <a:ext cx="6856661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091334" y="545800"/>
            <a:ext cx="6959511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UNIVERSITÉ HASSAN II DE CASABLANCA · FSBM · MASTER DSBD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1142759" y="800082"/>
            <a:ext cx="68566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1091334" y="774365"/>
            <a:ext cx="6959511" cy="222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Année Universitaire 2025-2026 · Module Optimisation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857083" y="1285875"/>
            <a:ext cx="742806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805658" y="1260157"/>
            <a:ext cx="7530917" cy="908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2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Comparaison des Méthodes d'Optimisation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2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 le Fine-Tuning des Modèles NLP Pré-entraînés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1428489" y="2214545"/>
            <a:ext cx="628525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377064" y="2188827"/>
            <a:ext cx="638810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300" u="none" cap="none" strike="noStrike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&amp; GPT · AdamW · LAMB · AdaFactor · SGD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142654" y="2643170"/>
            <a:ext cx="2856924" cy="14305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857030" y="2857482"/>
            <a:ext cx="999948" cy="257175"/>
          </a:xfrm>
          <a:prstGeom prst="roundRect">
            <a:avLst>
              <a:gd fmla="val 50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1857030" y="2857482"/>
            <a:ext cx="9999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1805605" y="2831765"/>
            <a:ext cx="1102797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999789" y="2857482"/>
            <a:ext cx="999948" cy="257175"/>
          </a:xfrm>
          <a:prstGeom prst="roundRect">
            <a:avLst>
              <a:gd fmla="val 50000" name="adj"/>
            </a:avLst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2999789" y="2857482"/>
            <a:ext cx="9999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2948364" y="2831765"/>
            <a:ext cx="1102797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142548" y="2857482"/>
            <a:ext cx="999948" cy="257175"/>
          </a:xfrm>
          <a:prstGeom prst="roundRect">
            <a:avLst>
              <a:gd fmla="val 50000" name="adj"/>
            </a:avLst>
          </a:pr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142548" y="2857482"/>
            <a:ext cx="9999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091123" y="2831765"/>
            <a:ext cx="1102797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285361" y="2857482"/>
            <a:ext cx="999948" cy="257175"/>
          </a:xfrm>
          <a:prstGeom prst="roundRect">
            <a:avLst>
              <a:gd fmla="val 50000" name="adj"/>
            </a:avLst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285361" y="2857482"/>
            <a:ext cx="9999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233936" y="2831765"/>
            <a:ext cx="1102797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142654" y="3328970"/>
            <a:ext cx="2856924" cy="14305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1142759" y="3500420"/>
            <a:ext cx="6856661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091334" y="3474702"/>
            <a:ext cx="6959511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ABLOU Fatima Zahra · ABRABRI Zineb · FOUZI Hajar · ELAAZZAOUI Mohamed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142759" y="3743343"/>
            <a:ext cx="68566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1091334" y="3717625"/>
            <a:ext cx="6959511" cy="222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Encadrante : Pr. BENABBOU Fouzia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28541" y="285732"/>
            <a:ext cx="28552" cy="22861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42801" y="257175"/>
            <a:ext cx="2856924" cy="285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91376" y="231457"/>
            <a:ext cx="2959774" cy="337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Vue d'ensemble de la Présentation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28541" y="785830"/>
            <a:ext cx="2642653" cy="16430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71406" y="928670"/>
            <a:ext cx="428541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19981" y="902952"/>
            <a:ext cx="531391" cy="3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71406" y="1285875"/>
            <a:ext cx="235697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19981" y="1260158"/>
            <a:ext cx="2459827" cy="265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71406" y="1557355"/>
            <a:ext cx="2356977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19981" y="1531638"/>
            <a:ext cx="2459827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comparer les optimiseurs pour le fine-tuning de transformers, architectures BERT vs GPT, les 4 familles d'optimiseurs, et le protocole expérimental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249789" y="785830"/>
            <a:ext cx="2642653" cy="16430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392601" y="928670"/>
            <a:ext cx="499947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3341176" y="902952"/>
            <a:ext cx="602797" cy="3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392601" y="1285875"/>
            <a:ext cx="235697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341176" y="1260158"/>
            <a:ext cx="2459827" cy="265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 on SST-2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392601" y="1557355"/>
            <a:ext cx="2356977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341176" y="1531638"/>
            <a:ext cx="2459827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 de validation, scores F1, analyse de convergence, courbes de perte, et pourquoi SGD échoue sur BERT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070984" y="785830"/>
            <a:ext cx="2642653" cy="16430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213849" y="928670"/>
            <a:ext cx="499947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162424" y="902952"/>
            <a:ext cx="602797" cy="3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213849" y="1285875"/>
            <a:ext cx="235697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162424" y="1260158"/>
            <a:ext cx="2459827" cy="265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 on SST-2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213849" y="1557355"/>
            <a:ext cx="2356977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162424" y="1531638"/>
            <a:ext cx="2459827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Mêmes optimiseurs appliqués à GPT-2, analyse de stabilité, comparaison de précision, et patterns de convergence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835603" y="2643170"/>
            <a:ext cx="2642653" cy="16430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978414" y="2786063"/>
            <a:ext cx="499947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926990" y="2760345"/>
            <a:ext cx="602797" cy="3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978414" y="3143268"/>
            <a:ext cx="2356977" cy="214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926990" y="3117550"/>
            <a:ext cx="2459827" cy="265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978414" y="3414695"/>
            <a:ext cx="2356977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1926990" y="3388977"/>
            <a:ext cx="2459827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Comparaison de précision BERT vs GPT, pourquoi BERT gagne, consommation de ressources, et confirmation SQuAD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656798" y="2643170"/>
            <a:ext cx="2642653" cy="16430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799663" y="2786063"/>
            <a:ext cx="499947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748238" y="2760345"/>
            <a:ext cx="602797" cy="3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799663" y="3143268"/>
            <a:ext cx="2356977" cy="214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748238" y="3117550"/>
            <a:ext cx="2459827" cy="265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 &amp; Recommandations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799663" y="3414695"/>
            <a:ext cx="2356977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748238" y="3388977"/>
            <a:ext cx="2459827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Classement global des optimiseurs, recommandations pratiques, travaux futurs, et points clés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28541" y="1142982"/>
            <a:ext cx="214270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77116" y="1117265"/>
            <a:ext cx="2245556" cy="908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4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28541" y="2143125"/>
            <a:ext cx="428541" cy="3573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28541" y="2286018"/>
            <a:ext cx="5713902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77116" y="2260300"/>
            <a:ext cx="5816752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28541" y="2750326"/>
            <a:ext cx="64281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377116" y="2724608"/>
            <a:ext cx="653096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le fine-tuning est important, comparaison d'architectures, familles d'optimiseurs, et protocole expérimental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28541" y="3214688"/>
            <a:ext cx="2856924" cy="71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28541" y="3357580"/>
            <a:ext cx="6428120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377116" y="3331863"/>
            <a:ext cx="6530969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Motivation &amp; Lacune de Recherche  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Architecture BERT vs GPT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AdamW · LAMB · AdaFactor · SGD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Méthodologie Expérimentale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1406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Motivation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28541" y="785830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406" y="914418"/>
            <a:ext cx="199968" cy="200007"/>
          </a:xfrm>
          <a:custGeom>
            <a:rect b="b" l="l" r="r" t="t"/>
            <a:pathLst>
              <a:path extrusionOk="0" h="474091" w="474091">
                <a:moveTo>
                  <a:pt x="111115" y="51854"/>
                </a:moveTo>
                <a:cubicBezTo>
                  <a:pt x="111115" y="23242"/>
                  <a:pt x="134356" y="0"/>
                  <a:pt x="162969" y="0"/>
                </a:cubicBezTo>
                <a:lnTo>
                  <a:pt x="185191" y="0"/>
                </a:lnTo>
                <a:cubicBezTo>
                  <a:pt x="201581" y="0"/>
                  <a:pt x="214822" y="13241"/>
                  <a:pt x="214822" y="29631"/>
                </a:cubicBezTo>
                <a:lnTo>
                  <a:pt x="214822" y="444460"/>
                </a:lnTo>
                <a:cubicBezTo>
                  <a:pt x="214822" y="460850"/>
                  <a:pt x="201581" y="474091"/>
                  <a:pt x="185191" y="474091"/>
                </a:cubicBezTo>
                <a:lnTo>
                  <a:pt x="155561" y="474091"/>
                </a:lnTo>
                <a:cubicBezTo>
                  <a:pt x="127967" y="474091"/>
                  <a:pt x="104725" y="455202"/>
                  <a:pt x="98151" y="429646"/>
                </a:cubicBezTo>
                <a:cubicBezTo>
                  <a:pt x="97503" y="429646"/>
                  <a:pt x="96947" y="429646"/>
                  <a:pt x="96299" y="429646"/>
                </a:cubicBezTo>
                <a:cubicBezTo>
                  <a:pt x="55372" y="429646"/>
                  <a:pt x="22223" y="396495"/>
                  <a:pt x="22223" y="355568"/>
                </a:cubicBezTo>
                <a:cubicBezTo>
                  <a:pt x="22223" y="338900"/>
                  <a:pt x="27779" y="323530"/>
                  <a:pt x="37038" y="311123"/>
                </a:cubicBezTo>
                <a:cubicBezTo>
                  <a:pt x="19074" y="297603"/>
                  <a:pt x="7407" y="276121"/>
                  <a:pt x="7407" y="251862"/>
                </a:cubicBezTo>
                <a:cubicBezTo>
                  <a:pt x="7407" y="223248"/>
                  <a:pt x="23705" y="198341"/>
                  <a:pt x="47409" y="186025"/>
                </a:cubicBezTo>
                <a:cubicBezTo>
                  <a:pt x="40835" y="174914"/>
                  <a:pt x="37038" y="161951"/>
                  <a:pt x="37038" y="148153"/>
                </a:cubicBezTo>
                <a:cubicBezTo>
                  <a:pt x="37038" y="107226"/>
                  <a:pt x="70187" y="74077"/>
                  <a:pt x="111115" y="74077"/>
                </a:cubicBezTo>
                <a:lnTo>
                  <a:pt x="111115" y="51854"/>
                </a:lnTo>
                <a:close/>
                <a:moveTo>
                  <a:pt x="362976" y="51854"/>
                </a:moveTo>
                <a:lnTo>
                  <a:pt x="362976" y="74077"/>
                </a:lnTo>
                <a:cubicBezTo>
                  <a:pt x="403904" y="74077"/>
                  <a:pt x="437053" y="107226"/>
                  <a:pt x="437053" y="148153"/>
                </a:cubicBezTo>
                <a:cubicBezTo>
                  <a:pt x="437053" y="162043"/>
                  <a:pt x="433256" y="175006"/>
                  <a:pt x="426682" y="186025"/>
                </a:cubicBezTo>
                <a:cubicBezTo>
                  <a:pt x="450478" y="198341"/>
                  <a:pt x="466684" y="223156"/>
                  <a:pt x="466684" y="251862"/>
                </a:cubicBezTo>
                <a:cubicBezTo>
                  <a:pt x="466684" y="276121"/>
                  <a:pt x="455017" y="297603"/>
                  <a:pt x="437053" y="311123"/>
                </a:cubicBezTo>
                <a:cubicBezTo>
                  <a:pt x="446312" y="323530"/>
                  <a:pt x="451868" y="338900"/>
                  <a:pt x="451868" y="355568"/>
                </a:cubicBezTo>
                <a:cubicBezTo>
                  <a:pt x="451868" y="396495"/>
                  <a:pt x="418719" y="429646"/>
                  <a:pt x="377792" y="429646"/>
                </a:cubicBezTo>
                <a:cubicBezTo>
                  <a:pt x="377144" y="429646"/>
                  <a:pt x="376588" y="429646"/>
                  <a:pt x="375940" y="429646"/>
                </a:cubicBezTo>
                <a:cubicBezTo>
                  <a:pt x="369366" y="455202"/>
                  <a:pt x="346124" y="474091"/>
                  <a:pt x="318530" y="474091"/>
                </a:cubicBezTo>
                <a:lnTo>
                  <a:pt x="288900" y="474091"/>
                </a:lnTo>
                <a:cubicBezTo>
                  <a:pt x="272510" y="474091"/>
                  <a:pt x="259269" y="460850"/>
                  <a:pt x="259269" y="444460"/>
                </a:cubicBezTo>
                <a:lnTo>
                  <a:pt x="259269" y="29631"/>
                </a:lnTo>
                <a:cubicBezTo>
                  <a:pt x="259269" y="13241"/>
                  <a:pt x="272510" y="0"/>
                  <a:pt x="288900" y="0"/>
                </a:cubicBezTo>
                <a:lnTo>
                  <a:pt x="311123" y="0"/>
                </a:lnTo>
                <a:cubicBezTo>
                  <a:pt x="339735" y="0"/>
                  <a:pt x="362976" y="23242"/>
                  <a:pt x="362976" y="51854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842780" y="90011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91355" y="87439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le Fine-tuning 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71406" y="1200150"/>
            <a:ext cx="3749736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19981" y="1174433"/>
            <a:ext cx="3852586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modèles pré-entraînés (BERT, GPT) encodent une riche connaissance linguistique à partir de corpus à grande échelle. Le fine-tuning adapte ces représentations générales à des tâches spécifiques avec un minimum de données étiquetées, obtenant des résultats state-of-the-art sur les benchmarks NLP.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678225" y="785830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821090" y="914418"/>
            <a:ext cx="199968" cy="200007"/>
          </a:xfrm>
          <a:custGeom>
            <a:rect b="b" l="l" r="r" t="t"/>
            <a:pathLst>
              <a:path extrusionOk="0" h="474091" w="474091">
                <a:moveTo>
                  <a:pt x="29631" y="59261"/>
                </a:moveTo>
                <a:cubicBezTo>
                  <a:pt x="13241" y="59261"/>
                  <a:pt x="0" y="72503"/>
                  <a:pt x="0" y="88892"/>
                </a:cubicBezTo>
                <a:cubicBezTo>
                  <a:pt x="0" y="105281"/>
                  <a:pt x="13241" y="118523"/>
                  <a:pt x="29631" y="118523"/>
                </a:cubicBezTo>
                <a:lnTo>
                  <a:pt x="109912" y="118523"/>
                </a:lnTo>
                <a:cubicBezTo>
                  <a:pt x="121301" y="144727"/>
                  <a:pt x="147412" y="162969"/>
                  <a:pt x="177784" y="162969"/>
                </a:cubicBezTo>
                <a:cubicBezTo>
                  <a:pt x="208156" y="162969"/>
                  <a:pt x="234267" y="144727"/>
                  <a:pt x="245657" y="118523"/>
                </a:cubicBezTo>
                <a:lnTo>
                  <a:pt x="444460" y="118523"/>
                </a:lnTo>
                <a:cubicBezTo>
                  <a:pt x="460850" y="118523"/>
                  <a:pt x="474091" y="105281"/>
                  <a:pt x="474091" y="88892"/>
                </a:cubicBezTo>
                <a:cubicBezTo>
                  <a:pt x="474091" y="72503"/>
                  <a:pt x="460850" y="59261"/>
                  <a:pt x="444460" y="59261"/>
                </a:cubicBezTo>
                <a:lnTo>
                  <a:pt x="245657" y="59261"/>
                </a:lnTo>
                <a:cubicBezTo>
                  <a:pt x="234267" y="33057"/>
                  <a:pt x="208156" y="14815"/>
                  <a:pt x="177784" y="14815"/>
                </a:cubicBezTo>
                <a:cubicBezTo>
                  <a:pt x="147412" y="14815"/>
                  <a:pt x="121301" y="33057"/>
                  <a:pt x="109912" y="59261"/>
                </a:cubicBezTo>
                <a:lnTo>
                  <a:pt x="29631" y="59261"/>
                </a:lnTo>
                <a:close/>
                <a:moveTo>
                  <a:pt x="29631" y="207415"/>
                </a:moveTo>
                <a:cubicBezTo>
                  <a:pt x="13241" y="207415"/>
                  <a:pt x="0" y="220656"/>
                  <a:pt x="0" y="237046"/>
                </a:cubicBezTo>
                <a:cubicBezTo>
                  <a:pt x="0" y="253435"/>
                  <a:pt x="13241" y="266676"/>
                  <a:pt x="29631" y="266676"/>
                </a:cubicBezTo>
                <a:lnTo>
                  <a:pt x="258065" y="266676"/>
                </a:lnTo>
                <a:cubicBezTo>
                  <a:pt x="269455" y="292881"/>
                  <a:pt x="295566" y="311123"/>
                  <a:pt x="325938" y="311123"/>
                </a:cubicBezTo>
                <a:cubicBezTo>
                  <a:pt x="356310" y="311123"/>
                  <a:pt x="382421" y="292881"/>
                  <a:pt x="393810" y="266676"/>
                </a:cubicBezTo>
                <a:lnTo>
                  <a:pt x="444460" y="266676"/>
                </a:lnTo>
                <a:cubicBezTo>
                  <a:pt x="460850" y="266676"/>
                  <a:pt x="474091" y="253435"/>
                  <a:pt x="474091" y="237046"/>
                </a:cubicBezTo>
                <a:cubicBezTo>
                  <a:pt x="474091" y="220656"/>
                  <a:pt x="460850" y="207415"/>
                  <a:pt x="444460" y="207415"/>
                </a:cubicBezTo>
                <a:lnTo>
                  <a:pt x="393810" y="207415"/>
                </a:lnTo>
                <a:cubicBezTo>
                  <a:pt x="382421" y="181210"/>
                  <a:pt x="356310" y="162969"/>
                  <a:pt x="325938" y="162969"/>
                </a:cubicBezTo>
                <a:cubicBezTo>
                  <a:pt x="295566" y="162969"/>
                  <a:pt x="269455" y="181210"/>
                  <a:pt x="258065" y="207415"/>
                </a:cubicBezTo>
                <a:lnTo>
                  <a:pt x="29631" y="207415"/>
                </a:lnTo>
                <a:close/>
                <a:moveTo>
                  <a:pt x="29631" y="355568"/>
                </a:moveTo>
                <a:cubicBezTo>
                  <a:pt x="13241" y="355568"/>
                  <a:pt x="0" y="368810"/>
                  <a:pt x="0" y="385199"/>
                </a:cubicBezTo>
                <a:cubicBezTo>
                  <a:pt x="0" y="401588"/>
                  <a:pt x="13241" y="414830"/>
                  <a:pt x="29631" y="414830"/>
                </a:cubicBezTo>
                <a:lnTo>
                  <a:pt x="80281" y="414830"/>
                </a:lnTo>
                <a:cubicBezTo>
                  <a:pt x="91670" y="441034"/>
                  <a:pt x="117781" y="459276"/>
                  <a:pt x="148153" y="459276"/>
                </a:cubicBezTo>
                <a:cubicBezTo>
                  <a:pt x="178525" y="459276"/>
                  <a:pt x="204636" y="441034"/>
                  <a:pt x="216026" y="414830"/>
                </a:cubicBezTo>
                <a:lnTo>
                  <a:pt x="444460" y="414830"/>
                </a:lnTo>
                <a:cubicBezTo>
                  <a:pt x="460850" y="414830"/>
                  <a:pt x="474091" y="401588"/>
                  <a:pt x="474091" y="385199"/>
                </a:cubicBezTo>
                <a:cubicBezTo>
                  <a:pt x="474091" y="368810"/>
                  <a:pt x="460850" y="355568"/>
                  <a:pt x="444460" y="355568"/>
                </a:cubicBezTo>
                <a:lnTo>
                  <a:pt x="216026" y="355568"/>
                </a:lnTo>
                <a:cubicBezTo>
                  <a:pt x="204636" y="329364"/>
                  <a:pt x="178525" y="311123"/>
                  <a:pt x="148153" y="311123"/>
                </a:cubicBezTo>
                <a:cubicBezTo>
                  <a:pt x="117781" y="311123"/>
                  <a:pt x="91670" y="329364"/>
                  <a:pt x="80281" y="355568"/>
                </a:cubicBezTo>
                <a:lnTo>
                  <a:pt x="29631" y="355568"/>
                </a:ln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092517" y="90011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041092" y="87439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les Optimiseurs Comptent 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821090" y="1200150"/>
            <a:ext cx="3749736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769665" y="1174433"/>
            <a:ext cx="3852586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L'optimiseur impacte directement la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vitesse de convergence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la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stabilité d'entraînement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l'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utilisation mémoire GPU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et la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 finale de généralisation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Les différentes familles d'optimiseurs gèrent très différemment le paysage de perte anisotropique des transformers.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28541" y="2750326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406" y="2878913"/>
            <a:ext cx="199968" cy="200007"/>
          </a:xfrm>
          <a:custGeom>
            <a:rect b="b" l="l" r="r" t="t"/>
            <a:pathLst>
              <a:path extrusionOk="0" h="474091" w="474091">
                <a:moveTo>
                  <a:pt x="385199" y="192600"/>
                </a:moveTo>
                <a:cubicBezTo>
                  <a:pt x="385199" y="235100"/>
                  <a:pt x="371402" y="274362"/>
                  <a:pt x="348161" y="306214"/>
                </a:cubicBezTo>
                <a:lnTo>
                  <a:pt x="465386" y="423534"/>
                </a:lnTo>
                <a:cubicBezTo>
                  <a:pt x="476961" y="435108"/>
                  <a:pt x="476961" y="453905"/>
                  <a:pt x="465386" y="465480"/>
                </a:cubicBezTo>
                <a:cubicBezTo>
                  <a:pt x="453813" y="477055"/>
                  <a:pt x="435016" y="477055"/>
                  <a:pt x="423441" y="465480"/>
                </a:cubicBezTo>
                <a:lnTo>
                  <a:pt x="306214" y="348161"/>
                </a:lnTo>
                <a:cubicBezTo>
                  <a:pt x="274362" y="371402"/>
                  <a:pt x="235100" y="385199"/>
                  <a:pt x="192600" y="385199"/>
                </a:cubicBezTo>
                <a:cubicBezTo>
                  <a:pt x="86207" y="385199"/>
                  <a:pt x="0" y="298992"/>
                  <a:pt x="0" y="192600"/>
                </a:cubicBezTo>
                <a:cubicBezTo>
                  <a:pt x="0" y="86207"/>
                  <a:pt x="86207" y="0"/>
                  <a:pt x="192600" y="0"/>
                </a:cubicBezTo>
                <a:cubicBezTo>
                  <a:pt x="298992" y="0"/>
                  <a:pt x="385199" y="86207"/>
                  <a:pt x="385199" y="192600"/>
                </a:cubicBezTo>
                <a:close/>
                <a:moveTo>
                  <a:pt x="192600" y="325938"/>
                </a:moveTo>
                <a:cubicBezTo>
                  <a:pt x="266191" y="325938"/>
                  <a:pt x="325938" y="266191"/>
                  <a:pt x="325938" y="192600"/>
                </a:cubicBezTo>
                <a:cubicBezTo>
                  <a:pt x="325938" y="119008"/>
                  <a:pt x="266191" y="59261"/>
                  <a:pt x="192600" y="59261"/>
                </a:cubicBezTo>
                <a:cubicBezTo>
                  <a:pt x="119008" y="59261"/>
                  <a:pt x="59261" y="119008"/>
                  <a:pt x="59261" y="192599"/>
                </a:cubicBezTo>
                <a:cubicBezTo>
                  <a:pt x="59261" y="266191"/>
                  <a:pt x="119008" y="325938"/>
                  <a:pt x="192599" y="325938"/>
                </a:cubicBezTo>
                <a:close/>
              </a:path>
            </a:pathLst>
          </a:custGeom>
          <a:solidFill>
            <a:srgbClr val="D4A373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842780" y="2864662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91355" y="2838944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Lacune de Recherche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406" y="3164699"/>
            <a:ext cx="3749736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19981" y="3138982"/>
            <a:ext cx="3852586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Peu de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comparaisons expérimentales systématiques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existent pour les architectures transformer modernes à travers différentes familles d'optimiseurs. La plupart des praticiens utilisent AdamW par défaut sans comprendre les compromis avec AdaFactor, LAMB, ou SGD.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678225" y="2750326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821090" y="2878913"/>
            <a:ext cx="199968" cy="200007"/>
          </a:xfrm>
          <a:custGeom>
            <a:rect b="b" l="l" r="r" t="t"/>
            <a:pathLst>
              <a:path extrusionOk="0" h="474091" w="474091">
                <a:moveTo>
                  <a:pt x="304773" y="0"/>
                </a:moveTo>
                <a:lnTo>
                  <a:pt x="135455" y="0"/>
                </a:lnTo>
                <a:cubicBezTo>
                  <a:pt x="116724" y="0"/>
                  <a:pt x="101591" y="13241"/>
                  <a:pt x="101591" y="29631"/>
                </a:cubicBezTo>
                <a:cubicBezTo>
                  <a:pt x="101591" y="46020"/>
                  <a:pt x="116724" y="59261"/>
                  <a:pt x="135455" y="59261"/>
                </a:cubicBezTo>
                <a:lnTo>
                  <a:pt x="135455" y="199544"/>
                </a:lnTo>
                <a:lnTo>
                  <a:pt x="7937" y="394737"/>
                </a:lnTo>
                <a:cubicBezTo>
                  <a:pt x="2752" y="402792"/>
                  <a:pt x="0" y="411774"/>
                  <a:pt x="0" y="421033"/>
                </a:cubicBezTo>
                <a:cubicBezTo>
                  <a:pt x="0" y="450386"/>
                  <a:pt x="27091" y="474091"/>
                  <a:pt x="60637" y="474091"/>
                </a:cubicBezTo>
                <a:lnTo>
                  <a:pt x="413454" y="474091"/>
                </a:lnTo>
                <a:cubicBezTo>
                  <a:pt x="446895" y="474091"/>
                  <a:pt x="474091" y="450386"/>
                  <a:pt x="474091" y="421033"/>
                </a:cubicBezTo>
                <a:cubicBezTo>
                  <a:pt x="474091" y="411774"/>
                  <a:pt x="471339" y="402700"/>
                  <a:pt x="466154" y="394737"/>
                </a:cubicBezTo>
                <a:lnTo>
                  <a:pt x="338636" y="199544"/>
                </a:lnTo>
                <a:lnTo>
                  <a:pt x="338636" y="59261"/>
                </a:lnTo>
                <a:cubicBezTo>
                  <a:pt x="357367" y="59261"/>
                  <a:pt x="372500" y="46020"/>
                  <a:pt x="372500" y="29631"/>
                </a:cubicBezTo>
                <a:cubicBezTo>
                  <a:pt x="372500" y="13241"/>
                  <a:pt x="357367" y="0"/>
                  <a:pt x="338636" y="0"/>
                </a:cubicBezTo>
                <a:lnTo>
                  <a:pt x="304773" y="0"/>
                </a:lnTo>
                <a:close/>
                <a:moveTo>
                  <a:pt x="203182" y="199544"/>
                </a:moveTo>
                <a:lnTo>
                  <a:pt x="203182" y="59261"/>
                </a:lnTo>
                <a:lnTo>
                  <a:pt x="270909" y="59261"/>
                </a:lnTo>
                <a:lnTo>
                  <a:pt x="270909" y="199544"/>
                </a:lnTo>
                <a:cubicBezTo>
                  <a:pt x="270909" y="209823"/>
                  <a:pt x="273978" y="220008"/>
                  <a:pt x="279799" y="228990"/>
                </a:cubicBezTo>
                <a:lnTo>
                  <a:pt x="323822" y="296307"/>
                </a:lnTo>
                <a:lnTo>
                  <a:pt x="150271" y="296307"/>
                </a:lnTo>
                <a:lnTo>
                  <a:pt x="194293" y="228990"/>
                </a:lnTo>
                <a:cubicBezTo>
                  <a:pt x="200113" y="220008"/>
                  <a:pt x="203182" y="209915"/>
                  <a:pt x="203182" y="199544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092517" y="2864662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041092" y="2838944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Notre Contribution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821090" y="3164699"/>
            <a:ext cx="3749736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769665" y="3138982"/>
            <a:ext cx="3852586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Nous évaluons </a:t>
            </a: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optimiseurs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sur </a:t>
            </a: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architectures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à travers </a:t>
            </a: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jeux de données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fournissant des recommandations actionnables et basées sur des preuves pour les praticiens sur le choix d'optimiseur.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71406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BERT vs GPT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28541" y="771525"/>
            <a:ext cx="4035413" cy="285748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428541" y="771525"/>
            <a:ext cx="4035413" cy="342900"/>
          </a:xfrm>
          <a:prstGeom prst="roundRect">
            <a:avLst>
              <a:gd fmla="val 8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28541" y="1057257"/>
            <a:ext cx="4035413" cy="85725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428541" y="771525"/>
            <a:ext cx="4035413" cy="328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377116" y="745808"/>
            <a:ext cx="4138263" cy="38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— Encodeur Bidirectionnel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71406" y="1200150"/>
            <a:ext cx="3749736" cy="2357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519981" y="1174433"/>
            <a:ext cx="3852586" cy="24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 couches encodeur Transformer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Attention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 têtes · Dim cachée 768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109M </a:t>
            </a:r>
            <a:endParaRPr sz="6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Pré-entraînement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MLM + NSP (bidirectionnel)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Token [CLS] + tête linéaire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Force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Représentations contextuelles plus riches pour les tâches de classification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678225" y="771525"/>
            <a:ext cx="4035413" cy="285748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678225" y="771525"/>
            <a:ext cx="4035413" cy="342900"/>
          </a:xfrm>
          <a:prstGeom prst="roundRect">
            <a:avLst>
              <a:gd fmla="val 8000" name="adj"/>
            </a:avLst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678225" y="1057257"/>
            <a:ext cx="4035413" cy="85725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4678225" y="771525"/>
            <a:ext cx="4035413" cy="328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4626800" y="745808"/>
            <a:ext cx="4138263" cy="38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 — Décodeur Causal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821090" y="1200150"/>
            <a:ext cx="3749736" cy="2357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4769665" y="1174433"/>
            <a:ext cx="3852586" cy="24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 Transformer decoder layers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Attention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 têtes · Dim cachée 768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124M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Pré-entraînement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Prédiction du token suivant (causal)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Dernier token + tête linéaire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Faiblesse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Moins adapté aux tâches discriminatives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28541" y="3750469"/>
            <a:ext cx="8285150" cy="357205"/>
          </a:xfrm>
          <a:prstGeom prst="roundRect">
            <a:avLst>
              <a:gd fmla="val 6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71406" y="3836194"/>
            <a:ext cx="171417" cy="171450"/>
          </a:xfrm>
          <a:custGeom>
            <a:rect b="b" l="l" r="r" t="t"/>
            <a:pathLst>
              <a:path extrusionOk="0" h="406400" w="406400">
                <a:moveTo>
                  <a:pt x="309985" y="304800"/>
                </a:moveTo>
                <a:cubicBezTo>
                  <a:pt x="317712" y="287100"/>
                  <a:pt x="333163" y="271065"/>
                  <a:pt x="350625" y="257255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6" y="0"/>
                  <a:pt x="0" y="68263"/>
                  <a:pt x="0" y="152400"/>
                </a:cubicBezTo>
                <a:cubicBezTo>
                  <a:pt x="0" y="193040"/>
                  <a:pt x="21167" y="229949"/>
                  <a:pt x="55775" y="257255"/>
                </a:cubicBezTo>
                <a:cubicBezTo>
                  <a:pt x="73237" y="271065"/>
                  <a:pt x="88795" y="287100"/>
                  <a:pt x="96415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49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7" y="165100"/>
                  <a:pt x="67733" y="156607"/>
                  <a:pt x="67733" y="146049"/>
                </a:cubicBezTo>
                <a:cubicBezTo>
                  <a:pt x="67733" y="93424"/>
                  <a:pt x="124565" y="50800"/>
                  <a:pt x="194733" y="50800"/>
                </a:cubicBezTo>
                <a:cubicBezTo>
                  <a:pt x="208809" y="50800"/>
                  <a:pt x="220133" y="59293"/>
                  <a:pt x="220133" y="69851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D4A373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814228" y="3786205"/>
            <a:ext cx="7756598" cy="285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762804" y="3760488"/>
            <a:ext cx="7859447" cy="337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Différence Clé :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 bidirectionnalité donne à BERT des représentations contextuelles plus riches, le rendant systématiquement supérieur pour les tâches de classification.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71406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4 Optimiseurs Comparés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28541" y="771525"/>
            <a:ext cx="4035413" cy="191450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42801" y="857250"/>
            <a:ext cx="714218" cy="200007"/>
          </a:xfrm>
          <a:prstGeom prst="roundRect">
            <a:avLst>
              <a:gd fmla="val 16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542801" y="857250"/>
            <a:ext cx="714218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491376" y="831533"/>
            <a:ext cx="817068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328478" y="842945"/>
            <a:ext cx="142848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1277053" y="817227"/>
            <a:ext cx="153133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42801" y="1128730"/>
            <a:ext cx="3806893" cy="1428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91376" y="1103013"/>
            <a:ext cx="3909743" cy="1480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Adam + découplage du weight decay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lr=2e-5, wd=0,01, eps=1e-8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Stable, LR adaptatif par paramètre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Convergence la plus rapide, étalon-or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Mémoire élevée (2 vecteurs moments)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678225" y="771525"/>
            <a:ext cx="4035413" cy="191450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792538" y="857250"/>
            <a:ext cx="714218" cy="200007"/>
          </a:xfrm>
          <a:prstGeom prst="roundRect">
            <a:avLst>
              <a:gd fmla="val 16000" name="adj"/>
            </a:avLst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792538" y="857250"/>
            <a:ext cx="714218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4741113" y="831533"/>
            <a:ext cx="817068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578161" y="842945"/>
            <a:ext cx="142848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526736" y="817227"/>
            <a:ext cx="153133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792538" y="1128730"/>
            <a:ext cx="3806893" cy="1428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741113" y="1103013"/>
            <a:ext cx="3909743" cy="1480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AdamW + normalisation adaptative par couche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lr=2e-5, β=(0,9;0,999), wd=0,01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Conçu pour des tailles de batch &gt;1024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Bon sur BERT avec grands batchs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Instable avec petits batchs (batch=16)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428541" y="2828925"/>
            <a:ext cx="4035413" cy="191450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542801" y="2914650"/>
            <a:ext cx="714218" cy="200007"/>
          </a:xfrm>
          <a:prstGeom prst="roundRect">
            <a:avLst>
              <a:gd fmla="val 16000" name="adj"/>
            </a:avLst>
          </a:pr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542801" y="2914650"/>
            <a:ext cx="714218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491376" y="2888932"/>
            <a:ext cx="817068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1328478" y="2900345"/>
            <a:ext cx="142848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1277053" y="2874627"/>
            <a:ext cx="153133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542801" y="3186130"/>
            <a:ext cx="3806893" cy="1428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491376" y="3160413"/>
            <a:ext cx="3909743" cy="1480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Moments factorisés 2nd ordre, mémoire O(n)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lr=2e-5, clip=1,0, decay=-0,8, wd=0,01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~2× moins de mémoire qu'AdamW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Idéal pour environnements à mémoire limitée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Convergence plus lente pendant le warmup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678225" y="2828925"/>
            <a:ext cx="4035413" cy="191450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4792538" y="2914650"/>
            <a:ext cx="714218" cy="200007"/>
          </a:xfrm>
          <a:prstGeom prst="roundRect">
            <a:avLst>
              <a:gd fmla="val 16000" name="adj"/>
            </a:avLst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4792538" y="2914650"/>
            <a:ext cx="714218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4741113" y="2888932"/>
            <a:ext cx="817068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578161" y="2900345"/>
            <a:ext cx="142848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5526736" y="2874627"/>
            <a:ext cx="153133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+ Momentum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792538" y="3186130"/>
            <a:ext cx="3806893" cy="1428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741113" y="3160413"/>
            <a:ext cx="3909743" cy="1480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Momentum Nesterov + warmup linéaire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Paramètres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lr=2e-5, momentum=0,9, wd=0,01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Simple, mémoire minimale (1 moment)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S'effondre vers la classe majoritaire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Ne peut naviguer la géométrie des transformers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71406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Méthodologie Expérimentale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28541" y="771525"/>
            <a:ext cx="2714113" cy="20002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542801" y="842945"/>
            <a:ext cx="248554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491376" y="817227"/>
            <a:ext cx="258838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Jeux de Données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542801" y="1085868"/>
            <a:ext cx="2485540" cy="1600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491376" y="1060150"/>
            <a:ext cx="2588389" cy="165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SST-2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(Principal — GLUE)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 binaire de sentiment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Entraînement : 67 349 | Val : 872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 : 55,78% pos / 44,22% neg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SQuAD v1.1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(Secondaire)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Compréhension de lecture / QA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87 599 passages + paires Q&amp;R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3285465" y="771525"/>
            <a:ext cx="2571248" cy="20002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3399779" y="842945"/>
            <a:ext cx="234267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3348354" y="817227"/>
            <a:ext cx="2445524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Hyperparamètres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399779" y="1085868"/>
            <a:ext cx="2342675" cy="1600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348354" y="1060150"/>
            <a:ext cx="2445524" cy="165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Taux d'apprentissage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2e-5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Taille de batch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Époques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(SGD : 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Longueur max séquence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Warmup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(842 pas)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 decay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Clipping gradient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5999578" y="771525"/>
            <a:ext cx="2714113" cy="20002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6113838" y="842945"/>
            <a:ext cx="248554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6062413" y="817227"/>
            <a:ext cx="258838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(10 Étapes)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6113838" y="1085868"/>
            <a:ext cx="2485540" cy="1600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6062413" y="1060150"/>
            <a:ext cx="2588389" cy="165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Charger SST-2 via HuggingFace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Tokeniser (max_len=128)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DataLoader (batch=16)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Charger modèle + tête de classification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Configurer optimiseur + scheduler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Entraîner 2 époques, grad_clip=1,0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Évaluer acc, F1, précision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Visualiser courbes + confusion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 Analyser mémoire GPU &amp; coût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428541" y="2928955"/>
            <a:ext cx="8285150" cy="428625"/>
          </a:xfrm>
          <a:prstGeom prst="roundRect">
            <a:avLst>
              <a:gd fmla="val 6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571406" y="2928955"/>
            <a:ext cx="79994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519981" y="2903238"/>
            <a:ext cx="810227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Optimiseurs  ·  </a:t>
            </a:r>
            <a:r>
              <a:rPr b="1"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Architectures  ·  </a:t>
            </a:r>
            <a:r>
              <a:rPr b="1"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Jeux de Données  ·  </a:t>
            </a:r>
            <a:r>
              <a:rPr b="1"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67K+</a:t>
            </a: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Exemples d'Entraînement  ·  Tesla T4 x2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428541" y="3500420"/>
            <a:ext cx="8285150" cy="121445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71406" y="3571893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519981" y="3546175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Environnement Expérimental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71406" y="3814763"/>
            <a:ext cx="7999420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519981" y="3789045"/>
            <a:ext cx="8102270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Plateforme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Kaggle · 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GPU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NVIDIA Tesla T4 x2 (14,7 Go VRAM)  · 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Framework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PyTorch + HuggingFace Transformers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bert-base-uncased (109M params)  ·  gpt2 (124M params)  · 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Tokeniseur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AutoTokenizer avec max_length=128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Long. séq.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Moy. 57,1 tokens (paddé à 128)  · 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Évaluation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Précision, F1, Précision, Rappel, Perte de Validation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428541" y="1142982"/>
            <a:ext cx="214270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377116" y="1117265"/>
            <a:ext cx="2245556" cy="908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4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428541" y="2143125"/>
            <a:ext cx="428541" cy="3573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428541" y="2286018"/>
            <a:ext cx="6428120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377116" y="2260300"/>
            <a:ext cx="6530969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 on SST-2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428541" y="2750326"/>
            <a:ext cx="64281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377116" y="2724608"/>
            <a:ext cx="653096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bert-base-uncased · 4 optimiseurs comparés sur précision, F1, convergence, et perte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428541" y="3214688"/>
            <a:ext cx="2856924" cy="71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428541" y="3357580"/>
            <a:ext cx="6428120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377116" y="3331863"/>
            <a:ext cx="6530969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Tableau Complet des Métriques  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Graphique de Précision de Validation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Courbes de Perte d'Entraînement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Pourquoi SGD Échoue sur BERT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189988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+ SST-2 — Résultats Complets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23"/>
          <p:cNvGraphicFramePr/>
          <p:nvPr/>
        </p:nvGraphicFramePr>
        <p:xfrm>
          <a:off x="428541" y="77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{78B41C8F-4F8E-4D80-896D-398BA306FE5C}</a:tableStyleId>
              </a:tblPr>
              <a:tblGrid>
                <a:gridCol w="1099900"/>
                <a:gridCol w="799925"/>
                <a:gridCol w="699925"/>
                <a:gridCol w="799925"/>
                <a:gridCol w="699925"/>
                <a:gridCol w="8999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Optimiseur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Préc. Val.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Score F1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Précision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Rappel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Temps (min)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AdamW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92.89%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0.930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0.928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0.932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29.6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AdaFactor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90,25%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0.905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0.900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0.910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36.9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LAMB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89.56%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0.899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0.883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0.917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36.2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SGD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50,80%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0.672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0.509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0.991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28.0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23"/>
          <p:cNvSpPr/>
          <p:nvPr/>
        </p:nvSpPr>
        <p:spPr>
          <a:xfrm>
            <a:off x="5642443" y="771525"/>
            <a:ext cx="3071195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5591018" y="745808"/>
            <a:ext cx="3174045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Points Clés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5642443" y="1043005"/>
            <a:ext cx="3071195" cy="414320"/>
          </a:xfrm>
          <a:prstGeom prst="roundRect">
            <a:avLst>
              <a:gd fmla="val 8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5715964" y="1121357"/>
            <a:ext cx="142865" cy="142893"/>
          </a:xfrm>
          <a:custGeom>
            <a:rect b="b" l="l" r="r" t="t"/>
            <a:pathLst>
              <a:path extrusionOk="0" h="338709" w="338709">
                <a:moveTo>
                  <a:pt x="95460" y="0"/>
                </a:moveTo>
                <a:lnTo>
                  <a:pt x="243645" y="0"/>
                </a:lnTo>
                <a:cubicBezTo>
                  <a:pt x="261177" y="0"/>
                  <a:pt x="275465" y="14422"/>
                  <a:pt x="274804" y="31887"/>
                </a:cubicBezTo>
                <a:cubicBezTo>
                  <a:pt x="274672" y="35392"/>
                  <a:pt x="274540" y="38898"/>
                  <a:pt x="274341" y="42339"/>
                </a:cubicBezTo>
                <a:lnTo>
                  <a:pt x="307153" y="42339"/>
                </a:lnTo>
                <a:cubicBezTo>
                  <a:pt x="324419" y="42339"/>
                  <a:pt x="339636" y="56628"/>
                  <a:pt x="338312" y="75283"/>
                </a:cubicBezTo>
                <a:cubicBezTo>
                  <a:pt x="333351" y="143885"/>
                  <a:pt x="298289" y="181593"/>
                  <a:pt x="260250" y="201306"/>
                </a:cubicBezTo>
                <a:cubicBezTo>
                  <a:pt x="249798" y="206731"/>
                  <a:pt x="239147" y="210766"/>
                  <a:pt x="229026" y="213744"/>
                </a:cubicBezTo>
                <a:cubicBezTo>
                  <a:pt x="215663" y="232664"/>
                  <a:pt x="201771" y="242653"/>
                  <a:pt x="190723" y="248012"/>
                </a:cubicBezTo>
                <a:lnTo>
                  <a:pt x="190723" y="296370"/>
                </a:lnTo>
                <a:lnTo>
                  <a:pt x="233061" y="296370"/>
                </a:lnTo>
                <a:cubicBezTo>
                  <a:pt x="244771" y="296370"/>
                  <a:pt x="254230" y="305830"/>
                  <a:pt x="254230" y="317540"/>
                </a:cubicBezTo>
                <a:cubicBezTo>
                  <a:pt x="254230" y="329249"/>
                  <a:pt x="244771" y="338709"/>
                  <a:pt x="233061" y="338709"/>
                </a:cubicBezTo>
                <a:lnTo>
                  <a:pt x="106045" y="338709"/>
                </a:lnTo>
                <a:cubicBezTo>
                  <a:pt x="94336" y="338709"/>
                  <a:pt x="84876" y="329249"/>
                  <a:pt x="84876" y="317540"/>
                </a:cubicBezTo>
                <a:cubicBezTo>
                  <a:pt x="84876" y="305830"/>
                  <a:pt x="94336" y="296370"/>
                  <a:pt x="106045" y="296370"/>
                </a:cubicBezTo>
                <a:lnTo>
                  <a:pt x="148384" y="296370"/>
                </a:lnTo>
                <a:lnTo>
                  <a:pt x="148384" y="248012"/>
                </a:lnTo>
                <a:cubicBezTo>
                  <a:pt x="137799" y="242918"/>
                  <a:pt x="124634" y="233457"/>
                  <a:pt x="111801" y="216059"/>
                </a:cubicBezTo>
                <a:cubicBezTo>
                  <a:pt x="99628" y="212884"/>
                  <a:pt x="86397" y="208054"/>
                  <a:pt x="73497" y="200777"/>
                </a:cubicBezTo>
                <a:cubicBezTo>
                  <a:pt x="37707" y="180733"/>
                  <a:pt x="5425" y="142959"/>
                  <a:pt x="793" y="75151"/>
                </a:cubicBezTo>
                <a:cubicBezTo>
                  <a:pt x="-463" y="56562"/>
                  <a:pt x="14686" y="42272"/>
                  <a:pt x="31952" y="42272"/>
                </a:cubicBezTo>
                <a:lnTo>
                  <a:pt x="64765" y="42272"/>
                </a:lnTo>
                <a:cubicBezTo>
                  <a:pt x="64567" y="38833"/>
                  <a:pt x="64435" y="35392"/>
                  <a:pt x="64301" y="31820"/>
                </a:cubicBezTo>
                <a:cubicBezTo>
                  <a:pt x="63640" y="14290"/>
                  <a:pt x="77930" y="-67"/>
                  <a:pt x="95460" y="-67"/>
                </a:cubicBezTo>
                <a:close/>
                <a:moveTo>
                  <a:pt x="67147" y="74093"/>
                </a:moveTo>
                <a:lnTo>
                  <a:pt x="32481" y="74093"/>
                </a:lnTo>
                <a:cubicBezTo>
                  <a:pt x="36583" y="130126"/>
                  <a:pt x="62317" y="158174"/>
                  <a:pt x="88844" y="173059"/>
                </a:cubicBezTo>
                <a:cubicBezTo>
                  <a:pt x="79319" y="148384"/>
                  <a:pt x="71446" y="116167"/>
                  <a:pt x="67147" y="74093"/>
                </a:cubicBezTo>
                <a:close/>
                <a:moveTo>
                  <a:pt x="251386" y="169884"/>
                </a:moveTo>
                <a:cubicBezTo>
                  <a:pt x="278177" y="154139"/>
                  <a:pt x="302390" y="126156"/>
                  <a:pt x="306492" y="74093"/>
                </a:cubicBezTo>
                <a:lnTo>
                  <a:pt x="271894" y="74093"/>
                </a:lnTo>
                <a:cubicBezTo>
                  <a:pt x="267792" y="114381"/>
                  <a:pt x="260383" y="145672"/>
                  <a:pt x="251386" y="169884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5942422" y="1071563"/>
            <a:ext cx="2685508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5890997" y="1045845"/>
            <a:ext cx="2788358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 Meilleur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92,89% de précision, convergence la plus rapide en 29,6 min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5642443" y="1528745"/>
            <a:ext cx="3071195" cy="414320"/>
          </a:xfrm>
          <a:prstGeom prst="roundRect">
            <a:avLst>
              <a:gd fmla="val 8000" name="adj"/>
            </a:avLst>
          </a:prstGeom>
          <a:solidFill>
            <a:srgbClr val="5B8C5A">
              <a:alpha val="392"/>
            </a:srgbClr>
          </a:solidFill>
          <a:ln cap="flat" cmpd="sng" w="12700">
            <a:solidFill>
              <a:srgbClr val="5B8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5712429" y="1597325"/>
            <a:ext cx="142865" cy="142893"/>
          </a:xfrm>
          <a:custGeom>
            <a:rect b="b" l="l" r="r" t="t"/>
            <a:pathLst>
              <a:path extrusionOk="0" h="338709" w="338709">
                <a:moveTo>
                  <a:pt x="42339" y="42339"/>
                </a:moveTo>
                <a:cubicBezTo>
                  <a:pt x="18986" y="42339"/>
                  <a:pt x="0" y="61325"/>
                  <a:pt x="0" y="84677"/>
                </a:cubicBezTo>
                <a:lnTo>
                  <a:pt x="0" y="89573"/>
                </a:lnTo>
                <a:cubicBezTo>
                  <a:pt x="0" y="94072"/>
                  <a:pt x="2911" y="97908"/>
                  <a:pt x="6682" y="100355"/>
                </a:cubicBezTo>
                <a:cubicBezTo>
                  <a:pt x="15414" y="106045"/>
                  <a:pt x="21169" y="115836"/>
                  <a:pt x="21169" y="127016"/>
                </a:cubicBezTo>
                <a:cubicBezTo>
                  <a:pt x="21169" y="138196"/>
                  <a:pt x="15414" y="147986"/>
                  <a:pt x="6682" y="153677"/>
                </a:cubicBezTo>
                <a:cubicBezTo>
                  <a:pt x="2911" y="156124"/>
                  <a:pt x="0" y="159960"/>
                  <a:pt x="0" y="164459"/>
                </a:cubicBezTo>
                <a:lnTo>
                  <a:pt x="0" y="201109"/>
                </a:lnTo>
                <a:lnTo>
                  <a:pt x="338709" y="201109"/>
                </a:lnTo>
                <a:lnTo>
                  <a:pt x="338709" y="164459"/>
                </a:lnTo>
                <a:cubicBezTo>
                  <a:pt x="338709" y="159960"/>
                  <a:pt x="335798" y="156124"/>
                  <a:pt x="332027" y="153677"/>
                </a:cubicBezTo>
                <a:cubicBezTo>
                  <a:pt x="323295" y="147986"/>
                  <a:pt x="317540" y="138196"/>
                  <a:pt x="317540" y="127016"/>
                </a:cubicBezTo>
                <a:cubicBezTo>
                  <a:pt x="317540" y="115836"/>
                  <a:pt x="323295" y="106045"/>
                  <a:pt x="332027" y="100355"/>
                </a:cubicBezTo>
                <a:cubicBezTo>
                  <a:pt x="335798" y="97908"/>
                  <a:pt x="338709" y="94072"/>
                  <a:pt x="338709" y="89573"/>
                </a:cubicBezTo>
                <a:lnTo>
                  <a:pt x="338709" y="84677"/>
                </a:lnTo>
                <a:cubicBezTo>
                  <a:pt x="338709" y="61325"/>
                  <a:pt x="319723" y="42339"/>
                  <a:pt x="296370" y="42339"/>
                </a:cubicBezTo>
                <a:lnTo>
                  <a:pt x="42339" y="42339"/>
                </a:lnTo>
                <a:close/>
                <a:moveTo>
                  <a:pt x="338709" y="275201"/>
                </a:moveTo>
                <a:lnTo>
                  <a:pt x="338709" y="232862"/>
                </a:lnTo>
                <a:lnTo>
                  <a:pt x="0" y="232862"/>
                </a:lnTo>
                <a:lnTo>
                  <a:pt x="0" y="275201"/>
                </a:lnTo>
                <a:cubicBezTo>
                  <a:pt x="0" y="286911"/>
                  <a:pt x="9460" y="296370"/>
                  <a:pt x="21169" y="296370"/>
                </a:cubicBezTo>
                <a:lnTo>
                  <a:pt x="63508" y="296370"/>
                </a:lnTo>
                <a:lnTo>
                  <a:pt x="63508" y="280494"/>
                </a:lnTo>
                <a:cubicBezTo>
                  <a:pt x="63508" y="271695"/>
                  <a:pt x="70586" y="264617"/>
                  <a:pt x="79385" y="264617"/>
                </a:cubicBezTo>
                <a:cubicBezTo>
                  <a:pt x="88183" y="264617"/>
                  <a:pt x="95263" y="271695"/>
                  <a:pt x="95263" y="280494"/>
                </a:cubicBezTo>
                <a:lnTo>
                  <a:pt x="95263" y="296370"/>
                </a:lnTo>
                <a:lnTo>
                  <a:pt x="153478" y="296370"/>
                </a:lnTo>
                <a:lnTo>
                  <a:pt x="153478" y="280494"/>
                </a:lnTo>
                <a:cubicBezTo>
                  <a:pt x="153478" y="271695"/>
                  <a:pt x="160556" y="264617"/>
                  <a:pt x="169355" y="264617"/>
                </a:cubicBezTo>
                <a:cubicBezTo>
                  <a:pt x="178153" y="264617"/>
                  <a:pt x="185231" y="271695"/>
                  <a:pt x="185231" y="280494"/>
                </a:cubicBezTo>
                <a:lnTo>
                  <a:pt x="185231" y="296370"/>
                </a:lnTo>
                <a:lnTo>
                  <a:pt x="243448" y="296370"/>
                </a:lnTo>
                <a:lnTo>
                  <a:pt x="243448" y="280494"/>
                </a:lnTo>
                <a:cubicBezTo>
                  <a:pt x="243448" y="271695"/>
                  <a:pt x="250526" y="264617"/>
                  <a:pt x="259324" y="264617"/>
                </a:cubicBezTo>
                <a:cubicBezTo>
                  <a:pt x="268123" y="264617"/>
                  <a:pt x="275201" y="271695"/>
                  <a:pt x="275201" y="280494"/>
                </a:cubicBezTo>
                <a:lnTo>
                  <a:pt x="275201" y="296370"/>
                </a:lnTo>
                <a:lnTo>
                  <a:pt x="317540" y="296370"/>
                </a:lnTo>
                <a:cubicBezTo>
                  <a:pt x="329249" y="296370"/>
                  <a:pt x="338709" y="286911"/>
                  <a:pt x="338709" y="275201"/>
                </a:cubicBezTo>
                <a:close/>
                <a:moveTo>
                  <a:pt x="105847" y="105847"/>
                </a:moveTo>
                <a:lnTo>
                  <a:pt x="105847" y="148185"/>
                </a:lnTo>
                <a:cubicBezTo>
                  <a:pt x="105847" y="159895"/>
                  <a:pt x="96387" y="169355"/>
                  <a:pt x="84677" y="169355"/>
                </a:cubicBezTo>
                <a:cubicBezTo>
                  <a:pt x="72968" y="169355"/>
                  <a:pt x="63508" y="159895"/>
                  <a:pt x="63508" y="148185"/>
                </a:cubicBezTo>
                <a:lnTo>
                  <a:pt x="63508" y="105847"/>
                </a:lnTo>
                <a:cubicBezTo>
                  <a:pt x="63508" y="94137"/>
                  <a:pt x="72968" y="84677"/>
                  <a:pt x="84677" y="84677"/>
                </a:cubicBezTo>
                <a:cubicBezTo>
                  <a:pt x="96387" y="84677"/>
                  <a:pt x="105847" y="94137"/>
                  <a:pt x="105847" y="105847"/>
                </a:cubicBezTo>
                <a:close/>
                <a:moveTo>
                  <a:pt x="190524" y="105847"/>
                </a:moveTo>
                <a:lnTo>
                  <a:pt x="190524" y="148185"/>
                </a:lnTo>
                <a:cubicBezTo>
                  <a:pt x="190524" y="159895"/>
                  <a:pt x="181064" y="169355"/>
                  <a:pt x="169355" y="169355"/>
                </a:cubicBezTo>
                <a:cubicBezTo>
                  <a:pt x="157645" y="169355"/>
                  <a:pt x="148185" y="159895"/>
                  <a:pt x="148185" y="148185"/>
                </a:cubicBezTo>
                <a:lnTo>
                  <a:pt x="148185" y="105847"/>
                </a:lnTo>
                <a:cubicBezTo>
                  <a:pt x="148185" y="94137"/>
                  <a:pt x="157645" y="84677"/>
                  <a:pt x="169355" y="84677"/>
                </a:cubicBezTo>
                <a:cubicBezTo>
                  <a:pt x="181064" y="84677"/>
                  <a:pt x="190524" y="94137"/>
                  <a:pt x="190524" y="105847"/>
                </a:cubicBezTo>
                <a:close/>
                <a:moveTo>
                  <a:pt x="275201" y="105847"/>
                </a:moveTo>
                <a:lnTo>
                  <a:pt x="275201" y="148185"/>
                </a:lnTo>
                <a:cubicBezTo>
                  <a:pt x="275201" y="159895"/>
                  <a:pt x="265741" y="169355"/>
                  <a:pt x="254032" y="169355"/>
                </a:cubicBezTo>
                <a:cubicBezTo>
                  <a:pt x="242322" y="169355"/>
                  <a:pt x="232862" y="159895"/>
                  <a:pt x="232862" y="148185"/>
                </a:cubicBezTo>
                <a:lnTo>
                  <a:pt x="232862" y="105847"/>
                </a:lnTo>
                <a:cubicBezTo>
                  <a:pt x="232862" y="94137"/>
                  <a:pt x="242322" y="84677"/>
                  <a:pt x="254032" y="84677"/>
                </a:cubicBezTo>
                <a:cubicBezTo>
                  <a:pt x="265741" y="84677"/>
                  <a:pt x="275201" y="94137"/>
                  <a:pt x="275201" y="105847"/>
                </a:cubicBezTo>
                <a:close/>
              </a:path>
            </a:pathLst>
          </a:cu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5942422" y="1557355"/>
            <a:ext cx="2685508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5890997" y="1531638"/>
            <a:ext cx="2788358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Avantage Mémoire AdaFactor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~1,5 Go vs 2,8 Go pour AdamW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642443" y="2014538"/>
            <a:ext cx="3071195" cy="414320"/>
          </a:xfrm>
          <a:prstGeom prst="roundRect">
            <a:avLst>
              <a:gd fmla="val 8000" name="adj"/>
            </a:avLst>
          </a:prstGeom>
          <a:solidFill>
            <a:srgbClr val="4A7FB5">
              <a:alpha val="392"/>
            </a:srgbClr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5712429" y="2157430"/>
            <a:ext cx="142865" cy="142893"/>
          </a:xfrm>
          <a:custGeom>
            <a:rect b="b" l="l" r="r" t="t"/>
            <a:pathLst>
              <a:path extrusionOk="0" h="338709" w="338709">
                <a:moveTo>
                  <a:pt x="153809" y="3440"/>
                </a:moveTo>
                <a:cubicBezTo>
                  <a:pt x="163666" y="-1124"/>
                  <a:pt x="175043" y="-1124"/>
                  <a:pt x="184900" y="3440"/>
                </a:cubicBezTo>
                <a:lnTo>
                  <a:pt x="329513" y="70255"/>
                </a:lnTo>
                <a:cubicBezTo>
                  <a:pt x="335137" y="72836"/>
                  <a:pt x="338709" y="78459"/>
                  <a:pt x="338709" y="84677"/>
                </a:cubicBezTo>
                <a:cubicBezTo>
                  <a:pt x="338709" y="90895"/>
                  <a:pt x="335137" y="96519"/>
                  <a:pt x="329513" y="99099"/>
                </a:cubicBezTo>
                <a:lnTo>
                  <a:pt x="184900" y="165914"/>
                </a:lnTo>
                <a:cubicBezTo>
                  <a:pt x="175043" y="170479"/>
                  <a:pt x="163666" y="170479"/>
                  <a:pt x="153809" y="165914"/>
                </a:cubicBezTo>
                <a:lnTo>
                  <a:pt x="9196" y="99099"/>
                </a:lnTo>
                <a:cubicBezTo>
                  <a:pt x="3572" y="96452"/>
                  <a:pt x="0" y="90830"/>
                  <a:pt x="0" y="84677"/>
                </a:cubicBezTo>
                <a:cubicBezTo>
                  <a:pt x="0" y="78524"/>
                  <a:pt x="3572" y="72836"/>
                  <a:pt x="9196" y="70255"/>
                </a:cubicBezTo>
                <a:lnTo>
                  <a:pt x="153809" y="3440"/>
                </a:lnTo>
                <a:close/>
                <a:moveTo>
                  <a:pt x="31820" y="144481"/>
                </a:moveTo>
                <a:lnTo>
                  <a:pt x="140511" y="194691"/>
                </a:lnTo>
                <a:cubicBezTo>
                  <a:pt x="158836" y="203159"/>
                  <a:pt x="179940" y="203159"/>
                  <a:pt x="198263" y="194691"/>
                </a:cubicBezTo>
                <a:lnTo>
                  <a:pt x="306956" y="144481"/>
                </a:lnTo>
                <a:lnTo>
                  <a:pt x="329513" y="154933"/>
                </a:lnTo>
                <a:cubicBezTo>
                  <a:pt x="335137" y="157513"/>
                  <a:pt x="338709" y="163136"/>
                  <a:pt x="338709" y="169355"/>
                </a:cubicBezTo>
                <a:cubicBezTo>
                  <a:pt x="338709" y="175573"/>
                  <a:pt x="335137" y="181196"/>
                  <a:pt x="329513" y="183776"/>
                </a:cubicBezTo>
                <a:lnTo>
                  <a:pt x="184900" y="250591"/>
                </a:lnTo>
                <a:cubicBezTo>
                  <a:pt x="175043" y="255156"/>
                  <a:pt x="163666" y="255156"/>
                  <a:pt x="153809" y="250591"/>
                </a:cubicBezTo>
                <a:lnTo>
                  <a:pt x="9196" y="183776"/>
                </a:lnTo>
                <a:cubicBezTo>
                  <a:pt x="3572" y="181129"/>
                  <a:pt x="0" y="175507"/>
                  <a:pt x="0" y="169355"/>
                </a:cubicBezTo>
                <a:cubicBezTo>
                  <a:pt x="0" y="163202"/>
                  <a:pt x="3572" y="157513"/>
                  <a:pt x="9196" y="154933"/>
                </a:cubicBezTo>
                <a:lnTo>
                  <a:pt x="31753" y="144481"/>
                </a:lnTo>
                <a:close/>
                <a:moveTo>
                  <a:pt x="9196" y="239610"/>
                </a:moveTo>
                <a:lnTo>
                  <a:pt x="31753" y="229158"/>
                </a:lnTo>
                <a:lnTo>
                  <a:pt x="140446" y="279368"/>
                </a:lnTo>
                <a:cubicBezTo>
                  <a:pt x="158771" y="287836"/>
                  <a:pt x="179873" y="287836"/>
                  <a:pt x="198198" y="279368"/>
                </a:cubicBezTo>
                <a:lnTo>
                  <a:pt x="306889" y="229158"/>
                </a:lnTo>
                <a:lnTo>
                  <a:pt x="329448" y="239610"/>
                </a:lnTo>
                <a:cubicBezTo>
                  <a:pt x="335070" y="242190"/>
                  <a:pt x="338642" y="247814"/>
                  <a:pt x="338642" y="254032"/>
                </a:cubicBezTo>
                <a:cubicBezTo>
                  <a:pt x="338642" y="260250"/>
                  <a:pt x="335070" y="265873"/>
                  <a:pt x="329448" y="268454"/>
                </a:cubicBezTo>
                <a:lnTo>
                  <a:pt x="184835" y="335269"/>
                </a:lnTo>
                <a:cubicBezTo>
                  <a:pt x="174978" y="339833"/>
                  <a:pt x="163599" y="339833"/>
                  <a:pt x="153742" y="335269"/>
                </a:cubicBezTo>
                <a:lnTo>
                  <a:pt x="9196" y="268454"/>
                </a:lnTo>
                <a:cubicBezTo>
                  <a:pt x="3572" y="265807"/>
                  <a:pt x="0" y="260185"/>
                  <a:pt x="0" y="254032"/>
                </a:cubicBezTo>
                <a:cubicBezTo>
                  <a:pt x="0" y="247879"/>
                  <a:pt x="3572" y="242190"/>
                  <a:pt x="9196" y="239610"/>
                </a:cubicBezTo>
                <a:close/>
              </a:path>
            </a:pathLst>
          </a:cu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5942422" y="2043095"/>
            <a:ext cx="2685508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5890997" y="2017377"/>
            <a:ext cx="2788358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Conçu pour grands batchs, sous-optimal à batch=16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642443" y="2500330"/>
            <a:ext cx="3071195" cy="414320"/>
          </a:xfrm>
          <a:prstGeom prst="roundRect">
            <a:avLst>
              <a:gd fmla="val 8000" name="adj"/>
            </a:avLst>
          </a:prstGeom>
          <a:solidFill>
            <a:srgbClr val="C75B3F">
              <a:alpha val="392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5702412" y="2557472"/>
            <a:ext cx="142865" cy="142893"/>
          </a:xfrm>
          <a:custGeom>
            <a:rect b="b" l="l" r="r" t="t"/>
            <a:pathLst>
              <a:path extrusionOk="0" h="338709" w="338709">
                <a:moveTo>
                  <a:pt x="169355" y="0"/>
                </a:moveTo>
                <a:cubicBezTo>
                  <a:pt x="179080" y="0"/>
                  <a:pt x="188010" y="5358"/>
                  <a:pt x="192641" y="13892"/>
                </a:cubicBezTo>
                <a:lnTo>
                  <a:pt x="335534" y="278508"/>
                </a:lnTo>
                <a:cubicBezTo>
                  <a:pt x="339966" y="286712"/>
                  <a:pt x="339768" y="296634"/>
                  <a:pt x="335005" y="304639"/>
                </a:cubicBezTo>
                <a:cubicBezTo>
                  <a:pt x="330241" y="312644"/>
                  <a:pt x="321575" y="317540"/>
                  <a:pt x="312247" y="317540"/>
                </a:cubicBezTo>
                <a:lnTo>
                  <a:pt x="26462" y="317540"/>
                </a:lnTo>
                <a:cubicBezTo>
                  <a:pt x="17134" y="317540"/>
                  <a:pt x="8534" y="312644"/>
                  <a:pt x="3704" y="304639"/>
                </a:cubicBezTo>
                <a:cubicBezTo>
                  <a:pt x="-1124" y="296634"/>
                  <a:pt x="-1257" y="286712"/>
                  <a:pt x="3175" y="278508"/>
                </a:cubicBezTo>
                <a:lnTo>
                  <a:pt x="146069" y="13892"/>
                </a:lnTo>
                <a:cubicBezTo>
                  <a:pt x="150699" y="5358"/>
                  <a:pt x="159629" y="0"/>
                  <a:pt x="169355" y="0"/>
                </a:cubicBezTo>
                <a:close/>
                <a:moveTo>
                  <a:pt x="169355" y="111139"/>
                </a:moveTo>
                <a:cubicBezTo>
                  <a:pt x="160556" y="111139"/>
                  <a:pt x="153478" y="118217"/>
                  <a:pt x="153478" y="127016"/>
                </a:cubicBezTo>
                <a:lnTo>
                  <a:pt x="153478" y="201109"/>
                </a:lnTo>
                <a:cubicBezTo>
                  <a:pt x="153478" y="209908"/>
                  <a:pt x="160556" y="216986"/>
                  <a:pt x="169355" y="216986"/>
                </a:cubicBezTo>
                <a:cubicBezTo>
                  <a:pt x="178153" y="216986"/>
                  <a:pt x="185231" y="209908"/>
                  <a:pt x="185231" y="201109"/>
                </a:cubicBezTo>
                <a:lnTo>
                  <a:pt x="185231" y="127016"/>
                </a:lnTo>
                <a:cubicBezTo>
                  <a:pt x="185231" y="118217"/>
                  <a:pt x="178153" y="111139"/>
                  <a:pt x="169355" y="111139"/>
                </a:cubicBezTo>
                <a:close/>
                <a:moveTo>
                  <a:pt x="187018" y="254032"/>
                </a:moveTo>
                <a:cubicBezTo>
                  <a:pt x="187419" y="247475"/>
                  <a:pt x="184150" y="241238"/>
                  <a:pt x="178529" y="237838"/>
                </a:cubicBezTo>
                <a:cubicBezTo>
                  <a:pt x="172910" y="234439"/>
                  <a:pt x="165866" y="234439"/>
                  <a:pt x="160245" y="237838"/>
                </a:cubicBezTo>
                <a:cubicBezTo>
                  <a:pt x="154626" y="241238"/>
                  <a:pt x="151356" y="247475"/>
                  <a:pt x="151758" y="254032"/>
                </a:cubicBezTo>
                <a:cubicBezTo>
                  <a:pt x="151356" y="260589"/>
                  <a:pt x="154626" y="266825"/>
                  <a:pt x="160245" y="270226"/>
                </a:cubicBezTo>
                <a:cubicBezTo>
                  <a:pt x="165866" y="273625"/>
                  <a:pt x="172910" y="273625"/>
                  <a:pt x="178529" y="270226"/>
                </a:cubicBezTo>
                <a:cubicBezTo>
                  <a:pt x="184150" y="266825"/>
                  <a:pt x="187419" y="260589"/>
                  <a:pt x="187018" y="254032"/>
                </a:cubicBezTo>
                <a:close/>
              </a:path>
            </a:pathLst>
          </a:cu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5942422" y="2528888"/>
            <a:ext cx="2685508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5890997" y="2503170"/>
            <a:ext cx="2788358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Échoue :</a:t>
            </a: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50,80% ≈ aléatoire, s'effondre vers la classe majoritaire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428541" y="2786063"/>
            <a:ext cx="2856924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377116" y="2760345"/>
            <a:ext cx="2959774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Progression de Précision par Époque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2" name="Google Shape;412;p23"/>
          <p:cNvGraphicFramePr/>
          <p:nvPr/>
        </p:nvGraphicFramePr>
        <p:xfrm>
          <a:off x="428541" y="30289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{78B41C8F-4F8E-4D80-896D-398BA306FE5C}</a:tableStyleId>
              </a:tblPr>
              <a:tblGrid>
                <a:gridCol w="1657025"/>
                <a:gridCol w="1657025"/>
                <a:gridCol w="1657025"/>
                <a:gridCol w="1657025"/>
                <a:gridCol w="1657025"/>
              </a:tblGrid>
              <a:tr h="32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Optimiseur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Époque 1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Époque 2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Gain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Tendance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AdamW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91,82%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92,95%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+1,13%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↗ Forte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5B8C5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AdaFactor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89,20%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90,25%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5B8C5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+1,05%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5B8C5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↗ Stable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  <a:tr h="32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SGD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50,91%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50,80%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−0,11%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↘ Échec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23"/>
          <p:cNvSpPr/>
          <p:nvPr/>
        </p:nvSpPr>
        <p:spPr>
          <a:xfrm>
            <a:off x="428541" y="4414838"/>
            <a:ext cx="8285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377116" y="4389120"/>
            <a:ext cx="8388000" cy="222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Matrice de Confusion (BERT+AdamW) : VN=396  FP=32  FN=30  VP=414  →  Taux d'erreur : 7,11%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189988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Courbes de Perte d'Entraînement BERT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6213849" y="771525"/>
            <a:ext cx="2499842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6162424" y="745808"/>
            <a:ext cx="2602692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Analyses de Convergence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6213849" y="1057257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6313860" y="1214455"/>
            <a:ext cx="85708" cy="85725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6470974" y="1085868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6419549" y="1060150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 chute le plus vite 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0,19 → 0,10 (réduction de 47%)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213849" y="1714500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5B8C5A">
              <a:alpha val="392"/>
            </a:srgbClr>
          </a:solidFill>
          <a:ln cap="flat" cmpd="sng" w="12700">
            <a:solidFill>
              <a:srgbClr val="5B8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6313860" y="1871645"/>
            <a:ext cx="85708" cy="85725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6470974" y="1743057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6419549" y="1717340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 décline plus lentement 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0,41 → 0,27 mais stable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6213849" y="2371743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4A7FB5">
              <a:alpha val="392"/>
            </a:srgbClr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6313860" y="2528888"/>
            <a:ext cx="85708" cy="85725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6470974" y="2400300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6419549" y="2374582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Oscillations LAMB 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0,42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0,27 avec du bruit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6213849" y="3028932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C75B3F">
              <a:alpha val="392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6313860" y="3186130"/>
            <a:ext cx="85708" cy="8572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6470974" y="3057543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6419549" y="3031825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bloqué à ~0,69 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 d'apprentissage significatif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8325111" y="4903470"/>
            <a:ext cx="531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38" y="785825"/>
            <a:ext cx="4847250" cy="3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5"/>
          <p:cNvSpPr/>
          <p:nvPr/>
        </p:nvSpPr>
        <p:spPr>
          <a:xfrm>
            <a:off x="189988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5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5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542801" y="400068"/>
            <a:ext cx="4999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491376" y="374350"/>
            <a:ext cx="510248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SGD Échoue sur les Transformers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428541" y="785830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542801" y="885807"/>
            <a:ext cx="257125" cy="25717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542801" y="885807"/>
            <a:ext cx="257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491376" y="860090"/>
            <a:ext cx="35997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885634" y="885807"/>
            <a:ext cx="34783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834209" y="860090"/>
            <a:ext cx="358115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Surface de Perte Anisotropique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542801" y="1228707"/>
            <a:ext cx="3806893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91376" y="1202990"/>
            <a:ext cx="3909743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gradients des transformers sont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énormes dans certaines dimensions, minuscules dans d'autres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SGD traite tous les paramètres également avec un seul taux d'apprentissage — catastrophique pour la géométrie complexe des paysages de perte des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4678225" y="785830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4792538" y="885807"/>
            <a:ext cx="257125" cy="25717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4792538" y="885807"/>
            <a:ext cx="257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4741113" y="860090"/>
            <a:ext cx="35997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5135371" y="885807"/>
            <a:ext cx="34783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5083946" y="860090"/>
            <a:ext cx="358115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Effondrement de Classe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4792538" y="1228707"/>
            <a:ext cx="3806893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4741113" y="1202990"/>
            <a:ext cx="3909743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apprend rapidement à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toujours prédire 'positif'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(classe majoritaire : 55,78%). La matrice de confusion révèle : 440/444 positifs corrects, mais seulement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3/428 négatifs corrects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Rappel élevé, précision quasi-nulle.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428541" y="2714643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542801" y="2814620"/>
            <a:ext cx="257125" cy="25717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542801" y="2814620"/>
            <a:ext cx="257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491376" y="2788902"/>
            <a:ext cx="35997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885634" y="2814620"/>
            <a:ext cx="34783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834209" y="2788902"/>
            <a:ext cx="358115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 de Moments du 2nd Ordre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542801" y="3157520"/>
            <a:ext cx="3806893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491376" y="3131802"/>
            <a:ext cx="3909743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Adam/LAMB/AdaFactor utilisent la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variance du gradient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pour adapter le LR par paramètre. SGD n'a que le momentum (1er ordre) — insuffisant pour l'espace de paramètres anisotropique de haute dimension des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4678225" y="2714643"/>
            <a:ext cx="4035413" cy="17859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4792538" y="2814620"/>
            <a:ext cx="257125" cy="25717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4792538" y="2814620"/>
            <a:ext cx="257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4741113" y="2788902"/>
            <a:ext cx="35997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5135371" y="2814620"/>
            <a:ext cx="34783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5083946" y="2788902"/>
            <a:ext cx="358115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Incompatibilité du Taux d'Apprentissage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792538" y="3157520"/>
            <a:ext cx="3806893" cy="1257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4741113" y="3131802"/>
            <a:ext cx="3909743" cy="1308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lr=2e-5 standard est conçu pour les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optimiseurs adaptatifs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SGD nécessite lr 0,01–0,1 (typique pour les CNNs), mais un LR élevé cause l'explosion de gradient sur les transformers. Le LR BERT par défaut est bien trop petit pour SGD.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428541" y="4629150"/>
            <a:ext cx="8285150" cy="214313"/>
          </a:xfrm>
          <a:prstGeom prst="roundRect">
            <a:avLst>
              <a:gd fmla="val 6000" name="adj"/>
            </a:avLst>
          </a:prstGeom>
          <a:solidFill>
            <a:srgbClr val="C75B3F">
              <a:alpha val="784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571406" y="4629150"/>
            <a:ext cx="79994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/>
          <p:nvPr/>
        </p:nvSpPr>
        <p:spPr>
          <a:xfrm>
            <a:off x="519981" y="4603433"/>
            <a:ext cx="8102270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: SGD ne devrait JAMAIS être utilisé pour le fine-tuning de transformers, quelle que soit l'architecture ou la tâche.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5"/>
          <p:cNvSpPr/>
          <p:nvPr/>
        </p:nvSpPr>
        <p:spPr>
          <a:xfrm>
            <a:off x="8376536" y="4903470"/>
            <a:ext cx="531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>
            <a:off x="428541" y="1142982"/>
            <a:ext cx="214270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6"/>
          <p:cNvSpPr/>
          <p:nvPr/>
        </p:nvSpPr>
        <p:spPr>
          <a:xfrm>
            <a:off x="377116" y="1117265"/>
            <a:ext cx="2245556" cy="908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4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/>
          <p:nvPr/>
        </p:nvSpPr>
        <p:spPr>
          <a:xfrm>
            <a:off x="428541" y="2143125"/>
            <a:ext cx="428541" cy="3573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428541" y="2286018"/>
            <a:ext cx="5713902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6"/>
          <p:cNvSpPr/>
          <p:nvPr/>
        </p:nvSpPr>
        <p:spPr>
          <a:xfrm>
            <a:off x="377116" y="2260300"/>
            <a:ext cx="5816752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 on SST-2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428541" y="2750326"/>
            <a:ext cx="64281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377116" y="2724608"/>
            <a:ext cx="653096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gpt2 · Mêmes 4 optimiseurs — analyse de stabilité et écarts de performance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428541" y="3214688"/>
            <a:ext cx="2856924" cy="71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428541" y="3357580"/>
            <a:ext cx="6428120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6"/>
          <p:cNvSpPr/>
          <p:nvPr/>
        </p:nvSpPr>
        <p:spPr>
          <a:xfrm>
            <a:off x="377116" y="3331863"/>
            <a:ext cx="6530969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Résultats &amp; Analyse de Stabilité  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Analyse Approfondie de Précision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Comparaison avec les Résultats BERT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6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7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3728309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7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 + SST-2 — Résultats &amp; Stabilité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2" name="Google Shape;562;p27"/>
          <p:cNvGraphicFramePr/>
          <p:nvPr/>
        </p:nvGraphicFramePr>
        <p:xfrm>
          <a:off x="428541" y="77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{78B41C8F-4F8E-4D80-896D-398BA306FE5C}</a:tableStyleId>
              </a:tblPr>
              <a:tblGrid>
                <a:gridCol w="1028475"/>
                <a:gridCol w="822800"/>
                <a:gridCol w="719925"/>
                <a:gridCol w="719925"/>
                <a:gridCol w="719925"/>
                <a:gridCol w="11313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Optimiseur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Préc. Val.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Perte Ent.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Perte Val.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Temps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Stabilité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AdamW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89.56%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0.243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0.319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32.5m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5B8C5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Stable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AdaFactor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80.73%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0.461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0.420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39.0m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Moderate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LAMB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76.15%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0.611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0.515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38.4m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Unstable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SGD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50.57%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0.717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0.706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46.2m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Very unstable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563" name="Google Shape;563;p27"/>
          <p:cNvSpPr/>
          <p:nvPr/>
        </p:nvSpPr>
        <p:spPr>
          <a:xfrm>
            <a:off x="5785308" y="771525"/>
            <a:ext cx="2928383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5733883" y="745808"/>
            <a:ext cx="3031233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Époque 1 vs Époque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7"/>
          <p:cNvSpPr/>
          <p:nvPr/>
        </p:nvSpPr>
        <p:spPr>
          <a:xfrm>
            <a:off x="5785308" y="1043005"/>
            <a:ext cx="2928383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7"/>
          <p:cNvSpPr/>
          <p:nvPr/>
        </p:nvSpPr>
        <p:spPr>
          <a:xfrm>
            <a:off x="5733883" y="1017288"/>
            <a:ext cx="3031233" cy="40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86,59% → 89,43%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Amélioration douce et stable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7"/>
          <p:cNvSpPr/>
          <p:nvPr/>
        </p:nvSpPr>
        <p:spPr>
          <a:xfrm>
            <a:off x="5785308" y="1457325"/>
            <a:ext cx="2928383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7"/>
          <p:cNvSpPr/>
          <p:nvPr/>
        </p:nvSpPr>
        <p:spPr>
          <a:xfrm>
            <a:off x="5733883" y="1431608"/>
            <a:ext cx="3031233" cy="40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80,00% → 80,80%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Gains modestes, warmup plus lent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7"/>
          <p:cNvSpPr/>
          <p:nvPr/>
        </p:nvSpPr>
        <p:spPr>
          <a:xfrm>
            <a:off x="5785308" y="1871645"/>
            <a:ext cx="2928383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7"/>
          <p:cNvSpPr/>
          <p:nvPr/>
        </p:nvSpPr>
        <p:spPr>
          <a:xfrm>
            <a:off x="5733883" y="1845927"/>
            <a:ext cx="3031233" cy="40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68,52% → 76,25%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Très volatile, grande récupération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7"/>
          <p:cNvSpPr/>
          <p:nvPr/>
        </p:nvSpPr>
        <p:spPr>
          <a:xfrm>
            <a:off x="5785308" y="2286018"/>
            <a:ext cx="2928383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7"/>
          <p:cNvSpPr/>
          <p:nvPr/>
        </p:nvSpPr>
        <p:spPr>
          <a:xfrm>
            <a:off x="5733883" y="2260300"/>
            <a:ext cx="3031233" cy="40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51,48% → 50,57%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Détérioration — pas de signal d'apprentissage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7"/>
          <p:cNvSpPr/>
          <p:nvPr/>
        </p:nvSpPr>
        <p:spPr>
          <a:xfrm>
            <a:off x="479966" y="3315555"/>
            <a:ext cx="8285150" cy="85725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>
            <a:off x="571406" y="2914650"/>
            <a:ext cx="2142707" cy="18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611421" y="3365626"/>
            <a:ext cx="2245556" cy="23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Observations Clés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571406" y="3143268"/>
            <a:ext cx="7999420" cy="485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611421" y="3618513"/>
            <a:ext cx="8102270" cy="537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AdamW meilleur mais </a:t>
            </a:r>
            <a:r>
              <a:rPr b="1"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−3,33 pts</a:t>
            </a: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vs BERT — l'arch. causale limite le plafond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AdaFactor chute de </a:t>
            </a:r>
            <a:r>
              <a:rPr b="1"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−9,52 pts</a:t>
            </a: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sur GPT — factorisation moins efficace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7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LAMB instable — époque 1 à 68,52%, récupère à 76,25%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8376536" y="4903470"/>
            <a:ext cx="5313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8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8"/>
          <p:cNvSpPr/>
          <p:nvPr/>
        </p:nvSpPr>
        <p:spPr>
          <a:xfrm>
            <a:off x="3728309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8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8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Précision GPT — Analyse Approfondie de Stabilité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41" y="771525"/>
            <a:ext cx="5571037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8"/>
          <p:cNvSpPr/>
          <p:nvPr/>
        </p:nvSpPr>
        <p:spPr>
          <a:xfrm>
            <a:off x="6213849" y="771525"/>
            <a:ext cx="2499842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6162424" y="745808"/>
            <a:ext cx="2602692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de Stabilité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6213849" y="1057257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6317088" y="1133573"/>
            <a:ext cx="85708" cy="85725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6470974" y="1085868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8"/>
          <p:cNvSpPr/>
          <p:nvPr/>
        </p:nvSpPr>
        <p:spPr>
          <a:xfrm>
            <a:off x="6419549" y="1060150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 — Stable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résultat pour GPT. Convergence cohérente.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6213849" y="1714500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5B8C5A">
              <a:alpha val="392"/>
            </a:srgbClr>
          </a:solidFill>
          <a:ln cap="flat" cmpd="sng" w="12700">
            <a:solidFill>
              <a:srgbClr val="5B8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8"/>
          <p:cNvSpPr/>
          <p:nvPr/>
        </p:nvSpPr>
        <p:spPr>
          <a:xfrm>
            <a:off x="6304956" y="1790651"/>
            <a:ext cx="85708" cy="85725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8"/>
          <p:cNvSpPr/>
          <p:nvPr/>
        </p:nvSpPr>
        <p:spPr>
          <a:xfrm>
            <a:off x="6470974" y="1743057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8"/>
          <p:cNvSpPr/>
          <p:nvPr/>
        </p:nvSpPr>
        <p:spPr>
          <a:xfrm>
            <a:off x="6419549" y="1717340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 — Modéré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Préc. époque 1 seulement 64%. Problème de warmup lent.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6213849" y="2371743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4A7FB5">
              <a:alpha val="392"/>
            </a:srgbClr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>
            <a:off x="6313860" y="2528888"/>
            <a:ext cx="85708" cy="85725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8"/>
          <p:cNvSpPr/>
          <p:nvPr/>
        </p:nvSpPr>
        <p:spPr>
          <a:xfrm>
            <a:off x="6470974" y="2400300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6419549" y="2374582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 — Instable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Époque 1 quasi-aléatoire (55%). Grande variance.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6213849" y="3028932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C75B3F">
              <a:alpha val="392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8"/>
          <p:cNvSpPr/>
          <p:nvPr/>
        </p:nvSpPr>
        <p:spPr>
          <a:xfrm>
            <a:off x="6313860" y="3186130"/>
            <a:ext cx="85708" cy="85725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8"/>
          <p:cNvSpPr/>
          <p:nvPr/>
        </p:nvSpPr>
        <p:spPr>
          <a:xfrm>
            <a:off x="6470974" y="3057543"/>
            <a:ext cx="2142707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6419549" y="3031825"/>
            <a:ext cx="2245556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— Pas de Convergence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Perte bloquée à 0,70+. Choix aléatoire.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"/>
          <p:cNvSpPr/>
          <p:nvPr/>
        </p:nvSpPr>
        <p:spPr>
          <a:xfrm>
            <a:off x="428541" y="3929045"/>
            <a:ext cx="8285150" cy="257175"/>
          </a:xfrm>
          <a:prstGeom prst="roundRect">
            <a:avLst>
              <a:gd fmla="val 6000" name="adj"/>
            </a:avLst>
          </a:prstGeom>
          <a:solidFill>
            <a:srgbClr val="4A7FB5">
              <a:alpha val="392"/>
            </a:srgbClr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8"/>
          <p:cNvSpPr/>
          <p:nvPr/>
        </p:nvSpPr>
        <p:spPr>
          <a:xfrm>
            <a:off x="571406" y="3929045"/>
            <a:ext cx="79994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"/>
          <p:cNvSpPr/>
          <p:nvPr/>
        </p:nvSpPr>
        <p:spPr>
          <a:xfrm>
            <a:off x="519981" y="3903327"/>
            <a:ext cx="810227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L'architecture causale de GPT amplifie les instabilités des optimiseurs. AdamW perd 3,33 pts vs BERT ; LAMB perd 13,41 pts.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9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9"/>
          <p:cNvSpPr/>
          <p:nvPr/>
        </p:nvSpPr>
        <p:spPr>
          <a:xfrm>
            <a:off x="428541" y="1142982"/>
            <a:ext cx="214270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9"/>
          <p:cNvSpPr/>
          <p:nvPr/>
        </p:nvSpPr>
        <p:spPr>
          <a:xfrm>
            <a:off x="377116" y="1117265"/>
            <a:ext cx="2245556" cy="908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4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428541" y="2143125"/>
            <a:ext cx="428541" cy="3573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428541" y="2286018"/>
            <a:ext cx="5713902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9"/>
          <p:cNvSpPr/>
          <p:nvPr/>
        </p:nvSpPr>
        <p:spPr>
          <a:xfrm>
            <a:off x="377116" y="2260300"/>
            <a:ext cx="5816752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428541" y="2750326"/>
            <a:ext cx="642812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9"/>
          <p:cNvSpPr/>
          <p:nvPr/>
        </p:nvSpPr>
        <p:spPr>
          <a:xfrm>
            <a:off x="377116" y="2724608"/>
            <a:ext cx="653096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vs GPT à travers tous les optimiseurs, consommation de ressources, et la confirmation SQuAD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428541" y="3214688"/>
            <a:ext cx="2856924" cy="712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9"/>
          <p:cNvSpPr/>
          <p:nvPr/>
        </p:nvSpPr>
        <p:spPr>
          <a:xfrm>
            <a:off x="428541" y="3357580"/>
            <a:ext cx="6428120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9"/>
          <p:cNvSpPr/>
          <p:nvPr/>
        </p:nvSpPr>
        <p:spPr>
          <a:xfrm>
            <a:off x="377116" y="3331863"/>
            <a:ext cx="6530969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Comparaison de Précision  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Pourquoi BERT Gagne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Analyse des Ressources            </a:t>
            </a:r>
            <a:r>
              <a:rPr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</a:t>
            </a:r>
            <a:r>
              <a:rPr lang="fr" sz="9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Confirmation SQuAD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9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9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555673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0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0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vs GPT — Comparaison de Précision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9" name="Google Shape;6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41" y="771525"/>
            <a:ext cx="5571037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0"/>
          <p:cNvSpPr/>
          <p:nvPr/>
        </p:nvSpPr>
        <p:spPr>
          <a:xfrm>
            <a:off x="6213849" y="771525"/>
            <a:ext cx="2499842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0"/>
          <p:cNvSpPr/>
          <p:nvPr/>
        </p:nvSpPr>
        <p:spPr>
          <a:xfrm>
            <a:off x="6162424" y="745808"/>
            <a:ext cx="2602692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Écart BERT vs GPT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213849" y="1057257"/>
            <a:ext cx="249984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0"/>
          <p:cNvSpPr/>
          <p:nvPr/>
        </p:nvSpPr>
        <p:spPr>
          <a:xfrm>
            <a:off x="6162424" y="1031540"/>
            <a:ext cx="26026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+3,33 pts BERT — plus petit écart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/>
          <p:nvPr/>
        </p:nvSpPr>
        <p:spPr>
          <a:xfrm>
            <a:off x="6213849" y="1557355"/>
            <a:ext cx="249984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0"/>
          <p:cNvSpPr/>
          <p:nvPr/>
        </p:nvSpPr>
        <p:spPr>
          <a:xfrm>
            <a:off x="6162424" y="1531638"/>
            <a:ext cx="26026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+9,52 pts BERT — écart modéré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6213849" y="2057400"/>
            <a:ext cx="249984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162424" y="2031683"/>
            <a:ext cx="26026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+13,41 pts BERT — plus grand écart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6213849" y="2557445"/>
            <a:ext cx="249984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162424" y="2531727"/>
            <a:ext cx="26026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+0,23 pts — les deux échouent également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6213849" y="3143268"/>
            <a:ext cx="2499842" cy="571518"/>
          </a:xfrm>
          <a:prstGeom prst="roundRect">
            <a:avLst>
              <a:gd fmla="val 8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/>
          <p:nvPr/>
        </p:nvSpPr>
        <p:spPr>
          <a:xfrm>
            <a:off x="6328109" y="3200382"/>
            <a:ext cx="2271269" cy="457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"/>
          <p:cNvSpPr/>
          <p:nvPr/>
        </p:nvSpPr>
        <p:spPr>
          <a:xfrm>
            <a:off x="6276684" y="3174665"/>
            <a:ext cx="2374119" cy="508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surpasse systématiquement GPT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sur toutes les configurations d'optimiseurs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428541" y="3929045"/>
            <a:ext cx="8285150" cy="357205"/>
          </a:xfrm>
          <a:prstGeom prst="roundRect">
            <a:avLst>
              <a:gd fmla="val 6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"/>
          <p:cNvSpPr/>
          <p:nvPr/>
        </p:nvSpPr>
        <p:spPr>
          <a:xfrm>
            <a:off x="571406" y="3929045"/>
            <a:ext cx="7999420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0"/>
          <p:cNvSpPr/>
          <p:nvPr/>
        </p:nvSpPr>
        <p:spPr>
          <a:xfrm>
            <a:off x="519981" y="3903327"/>
            <a:ext cx="8102270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 Clé :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L'écart de performance s'élargit dramatiquement pour les optimiseurs moins stables. LAMB perd 13,41 points sur GPT contre seulement 3,33 pour AdamW — confirmant la robustesse d'AdamW à travers les architectures.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0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1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1"/>
          <p:cNvSpPr/>
          <p:nvPr/>
        </p:nvSpPr>
        <p:spPr>
          <a:xfrm>
            <a:off x="555673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1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542801" y="400068"/>
            <a:ext cx="4999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1"/>
          <p:cNvSpPr/>
          <p:nvPr/>
        </p:nvSpPr>
        <p:spPr>
          <a:xfrm>
            <a:off x="491376" y="374350"/>
            <a:ext cx="510248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BERT Surpasse Systématiquement GPT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428541" y="785830"/>
            <a:ext cx="4035413" cy="182165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1"/>
          <p:cNvSpPr/>
          <p:nvPr/>
        </p:nvSpPr>
        <p:spPr>
          <a:xfrm>
            <a:off x="571406" y="914418"/>
            <a:ext cx="199968" cy="200007"/>
          </a:xfrm>
          <a:custGeom>
            <a:rect b="b" l="l" r="r" t="t"/>
            <a:pathLst>
              <a:path extrusionOk="0" h="474091" w="474091">
                <a:moveTo>
                  <a:pt x="465386" y="376494"/>
                </a:moveTo>
                <a:lnTo>
                  <a:pt x="376494" y="465386"/>
                </a:lnTo>
                <a:cubicBezTo>
                  <a:pt x="367976" y="473906"/>
                  <a:pt x="355291" y="476405"/>
                  <a:pt x="344179" y="471777"/>
                </a:cubicBezTo>
                <a:cubicBezTo>
                  <a:pt x="333068" y="467146"/>
                  <a:pt x="325938" y="456405"/>
                  <a:pt x="325938" y="444460"/>
                </a:cubicBezTo>
                <a:lnTo>
                  <a:pt x="325938" y="385199"/>
                </a:lnTo>
                <a:lnTo>
                  <a:pt x="29631" y="385199"/>
                </a:lnTo>
                <a:cubicBezTo>
                  <a:pt x="13241" y="385199"/>
                  <a:pt x="0" y="371957"/>
                  <a:pt x="0" y="355568"/>
                </a:cubicBezTo>
                <a:cubicBezTo>
                  <a:pt x="0" y="339179"/>
                  <a:pt x="13241" y="325938"/>
                  <a:pt x="29631" y="325938"/>
                </a:cubicBezTo>
                <a:lnTo>
                  <a:pt x="325938" y="325938"/>
                </a:lnTo>
                <a:lnTo>
                  <a:pt x="325938" y="266676"/>
                </a:lnTo>
                <a:cubicBezTo>
                  <a:pt x="325938" y="254732"/>
                  <a:pt x="333160" y="243898"/>
                  <a:pt x="344272" y="239268"/>
                </a:cubicBezTo>
                <a:cubicBezTo>
                  <a:pt x="355383" y="234638"/>
                  <a:pt x="368068" y="237231"/>
                  <a:pt x="376588" y="245657"/>
                </a:cubicBezTo>
                <a:lnTo>
                  <a:pt x="465480" y="334549"/>
                </a:lnTo>
                <a:cubicBezTo>
                  <a:pt x="477055" y="346124"/>
                  <a:pt x="477055" y="364921"/>
                  <a:pt x="465480" y="376494"/>
                </a:cubicBezTo>
                <a:close/>
                <a:moveTo>
                  <a:pt x="8705" y="139449"/>
                </a:moveTo>
                <a:cubicBezTo>
                  <a:pt x="-2870" y="127875"/>
                  <a:pt x="-2870" y="109078"/>
                  <a:pt x="8705" y="97503"/>
                </a:cubicBezTo>
                <a:lnTo>
                  <a:pt x="97597" y="8611"/>
                </a:lnTo>
                <a:cubicBezTo>
                  <a:pt x="106115" y="92"/>
                  <a:pt x="118800" y="-2408"/>
                  <a:pt x="129912" y="2222"/>
                </a:cubicBezTo>
                <a:cubicBezTo>
                  <a:pt x="141023" y="6853"/>
                  <a:pt x="148153" y="17686"/>
                  <a:pt x="148153" y="29631"/>
                </a:cubicBezTo>
                <a:lnTo>
                  <a:pt x="148153" y="88892"/>
                </a:lnTo>
                <a:lnTo>
                  <a:pt x="444460" y="88892"/>
                </a:lnTo>
                <a:cubicBezTo>
                  <a:pt x="460850" y="88892"/>
                  <a:pt x="474091" y="102134"/>
                  <a:pt x="474091" y="118523"/>
                </a:cubicBezTo>
                <a:cubicBezTo>
                  <a:pt x="474091" y="134912"/>
                  <a:pt x="460850" y="148153"/>
                  <a:pt x="444460" y="148153"/>
                </a:cubicBezTo>
                <a:lnTo>
                  <a:pt x="148153" y="148153"/>
                </a:lnTo>
                <a:lnTo>
                  <a:pt x="148153" y="207415"/>
                </a:lnTo>
                <a:cubicBezTo>
                  <a:pt x="148153" y="219359"/>
                  <a:pt x="140931" y="230193"/>
                  <a:pt x="129819" y="234823"/>
                </a:cubicBezTo>
                <a:cubicBezTo>
                  <a:pt x="118708" y="239453"/>
                  <a:pt x="106023" y="236860"/>
                  <a:pt x="97503" y="228434"/>
                </a:cubicBezTo>
                <a:lnTo>
                  <a:pt x="8611" y="139542"/>
                </a:ln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842780" y="90011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791355" y="87439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Bidirectionnalité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571406" y="1200150"/>
            <a:ext cx="374973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519981" y="1174432"/>
            <a:ext cx="3852586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lit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GAUCHE→DROITE et DROITE→GAUCHE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simultanément. Pour l'analyse de sentiment, le contexte complet des deux directions est essentiel. GPT ne voit que ce qui précède chaque token — manquant le contexte futur critique pour une classification précise.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4678225" y="785830"/>
            <a:ext cx="4035413" cy="182165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4821090" y="914418"/>
            <a:ext cx="199968" cy="200007"/>
          </a:xfrm>
          <a:custGeom>
            <a:rect b="b" l="l" r="r" t="t"/>
            <a:pathLst>
              <a:path extrusionOk="0" h="474091" w="474091">
                <a:moveTo>
                  <a:pt x="414830" y="237046"/>
                </a:moveTo>
                <a:cubicBezTo>
                  <a:pt x="414830" y="138924"/>
                  <a:pt x="335167" y="59261"/>
                  <a:pt x="237046" y="59261"/>
                </a:cubicBezTo>
                <a:cubicBezTo>
                  <a:pt x="138924" y="59261"/>
                  <a:pt x="59261" y="138924"/>
                  <a:pt x="59261" y="237046"/>
                </a:cubicBezTo>
                <a:cubicBezTo>
                  <a:pt x="59261" y="335167"/>
                  <a:pt x="138924" y="414830"/>
                  <a:pt x="237046" y="414830"/>
                </a:cubicBezTo>
                <a:cubicBezTo>
                  <a:pt x="335167" y="414830"/>
                  <a:pt x="414830" y="335167"/>
                  <a:pt x="414830" y="237046"/>
                </a:cubicBezTo>
                <a:close/>
                <a:moveTo>
                  <a:pt x="0" y="237046"/>
                </a:moveTo>
                <a:cubicBezTo>
                  <a:pt x="0" y="106217"/>
                  <a:pt x="106217" y="0"/>
                  <a:pt x="237046" y="0"/>
                </a:cubicBezTo>
                <a:cubicBezTo>
                  <a:pt x="367874" y="0"/>
                  <a:pt x="474091" y="106217"/>
                  <a:pt x="474091" y="237046"/>
                </a:cubicBezTo>
                <a:cubicBezTo>
                  <a:pt x="474091" y="367874"/>
                  <a:pt x="367874" y="474091"/>
                  <a:pt x="237046" y="474091"/>
                </a:cubicBezTo>
                <a:cubicBezTo>
                  <a:pt x="106217" y="474091"/>
                  <a:pt x="0" y="367874"/>
                  <a:pt x="0" y="237046"/>
                </a:cubicBezTo>
                <a:close/>
                <a:moveTo>
                  <a:pt x="237046" y="311123"/>
                </a:moveTo>
                <a:cubicBezTo>
                  <a:pt x="277930" y="311123"/>
                  <a:pt x="311123" y="277930"/>
                  <a:pt x="311123" y="237046"/>
                </a:cubicBezTo>
                <a:cubicBezTo>
                  <a:pt x="311123" y="196161"/>
                  <a:pt x="277930" y="162969"/>
                  <a:pt x="237046" y="162969"/>
                </a:cubicBezTo>
                <a:cubicBezTo>
                  <a:pt x="196161" y="162969"/>
                  <a:pt x="162969" y="196161"/>
                  <a:pt x="162969" y="237046"/>
                </a:cubicBezTo>
                <a:cubicBezTo>
                  <a:pt x="162969" y="277930"/>
                  <a:pt x="196161" y="311123"/>
                  <a:pt x="237046" y="311123"/>
                </a:cubicBezTo>
                <a:close/>
                <a:moveTo>
                  <a:pt x="237046" y="103708"/>
                </a:moveTo>
                <a:cubicBezTo>
                  <a:pt x="310636" y="103708"/>
                  <a:pt x="370384" y="163455"/>
                  <a:pt x="370384" y="237046"/>
                </a:cubicBezTo>
                <a:cubicBezTo>
                  <a:pt x="370384" y="310636"/>
                  <a:pt x="310636" y="370384"/>
                  <a:pt x="237046" y="370384"/>
                </a:cubicBezTo>
                <a:cubicBezTo>
                  <a:pt x="163455" y="370384"/>
                  <a:pt x="103708" y="310636"/>
                  <a:pt x="103708" y="237046"/>
                </a:cubicBezTo>
                <a:cubicBezTo>
                  <a:pt x="103708" y="163455"/>
                  <a:pt x="163455" y="103708"/>
                  <a:pt x="237046" y="103708"/>
                </a:cubicBezTo>
                <a:close/>
                <a:moveTo>
                  <a:pt x="207415" y="237046"/>
                </a:moveTo>
                <a:cubicBezTo>
                  <a:pt x="207415" y="220692"/>
                  <a:pt x="220692" y="207415"/>
                  <a:pt x="237046" y="207415"/>
                </a:cubicBezTo>
                <a:cubicBezTo>
                  <a:pt x="253399" y="207415"/>
                  <a:pt x="266676" y="220692"/>
                  <a:pt x="266676" y="237046"/>
                </a:cubicBezTo>
                <a:cubicBezTo>
                  <a:pt x="266676" y="253399"/>
                  <a:pt x="253399" y="266676"/>
                  <a:pt x="237046" y="266676"/>
                </a:cubicBezTo>
                <a:cubicBezTo>
                  <a:pt x="220692" y="266676"/>
                  <a:pt x="207415" y="253399"/>
                  <a:pt x="207415" y="237046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5092517" y="90011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041092" y="87439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Objectif de Pré-entraînement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4821090" y="1200150"/>
            <a:ext cx="374973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1"/>
          <p:cNvSpPr/>
          <p:nvPr/>
        </p:nvSpPr>
        <p:spPr>
          <a:xfrm>
            <a:off x="4769665" y="1174432"/>
            <a:ext cx="3852586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est pré-entraîné avec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MLM + NSP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forçant des représentations sémantiques riches à chaque couche. GPT optimise uniquement pour la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prédiction du token suivant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(objectif génératif), qui est moins adapté aux tâches de classification discriminative.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428541" y="2750326"/>
            <a:ext cx="4035413" cy="182165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1"/>
          <p:cNvSpPr/>
          <p:nvPr/>
        </p:nvSpPr>
        <p:spPr>
          <a:xfrm>
            <a:off x="571406" y="2878913"/>
            <a:ext cx="199968" cy="200007"/>
          </a:xfrm>
          <a:custGeom>
            <a:rect b="b" l="l" r="r" t="t"/>
            <a:pathLst>
              <a:path extrusionOk="0" h="474091" w="474091">
                <a:moveTo>
                  <a:pt x="177784" y="59261"/>
                </a:moveTo>
                <a:cubicBezTo>
                  <a:pt x="177784" y="42872"/>
                  <a:pt x="191026" y="29631"/>
                  <a:pt x="207415" y="29631"/>
                </a:cubicBezTo>
                <a:lnTo>
                  <a:pt x="266676" y="29631"/>
                </a:lnTo>
                <a:cubicBezTo>
                  <a:pt x="283065" y="29631"/>
                  <a:pt x="296307" y="42872"/>
                  <a:pt x="296307" y="59261"/>
                </a:cubicBezTo>
                <a:lnTo>
                  <a:pt x="296307" y="118523"/>
                </a:lnTo>
                <a:cubicBezTo>
                  <a:pt x="296307" y="134912"/>
                  <a:pt x="283065" y="148153"/>
                  <a:pt x="266676" y="148153"/>
                </a:cubicBezTo>
                <a:lnTo>
                  <a:pt x="259269" y="148153"/>
                </a:lnTo>
                <a:lnTo>
                  <a:pt x="259269" y="207415"/>
                </a:lnTo>
                <a:lnTo>
                  <a:pt x="370384" y="207415"/>
                </a:lnTo>
                <a:cubicBezTo>
                  <a:pt x="407237" y="207415"/>
                  <a:pt x="437053" y="237231"/>
                  <a:pt x="437053" y="274084"/>
                </a:cubicBezTo>
                <a:lnTo>
                  <a:pt x="437053" y="325938"/>
                </a:lnTo>
                <a:lnTo>
                  <a:pt x="444460" y="325938"/>
                </a:lnTo>
                <a:cubicBezTo>
                  <a:pt x="460850" y="325938"/>
                  <a:pt x="474091" y="339179"/>
                  <a:pt x="474091" y="355568"/>
                </a:cubicBezTo>
                <a:lnTo>
                  <a:pt x="474091" y="414830"/>
                </a:lnTo>
                <a:cubicBezTo>
                  <a:pt x="474091" y="431219"/>
                  <a:pt x="460850" y="444460"/>
                  <a:pt x="444460" y="444460"/>
                </a:cubicBezTo>
                <a:lnTo>
                  <a:pt x="385199" y="444460"/>
                </a:lnTo>
                <a:cubicBezTo>
                  <a:pt x="368810" y="444460"/>
                  <a:pt x="355568" y="431219"/>
                  <a:pt x="355568" y="414830"/>
                </a:cubicBezTo>
                <a:lnTo>
                  <a:pt x="355568" y="355568"/>
                </a:lnTo>
                <a:cubicBezTo>
                  <a:pt x="355568" y="339179"/>
                  <a:pt x="368810" y="325938"/>
                  <a:pt x="385199" y="325938"/>
                </a:cubicBezTo>
                <a:lnTo>
                  <a:pt x="392606" y="325938"/>
                </a:lnTo>
                <a:lnTo>
                  <a:pt x="392606" y="274084"/>
                </a:lnTo>
                <a:cubicBezTo>
                  <a:pt x="392606" y="261769"/>
                  <a:pt x="382699" y="251862"/>
                  <a:pt x="370384" y="251862"/>
                </a:cubicBezTo>
                <a:lnTo>
                  <a:pt x="259269" y="251862"/>
                </a:lnTo>
                <a:lnTo>
                  <a:pt x="259269" y="325938"/>
                </a:lnTo>
                <a:lnTo>
                  <a:pt x="266676" y="325938"/>
                </a:lnTo>
                <a:cubicBezTo>
                  <a:pt x="283065" y="325938"/>
                  <a:pt x="296307" y="339179"/>
                  <a:pt x="296307" y="355568"/>
                </a:cubicBezTo>
                <a:lnTo>
                  <a:pt x="296307" y="414830"/>
                </a:lnTo>
                <a:cubicBezTo>
                  <a:pt x="296307" y="431219"/>
                  <a:pt x="283065" y="444460"/>
                  <a:pt x="266676" y="444460"/>
                </a:cubicBezTo>
                <a:lnTo>
                  <a:pt x="207415" y="444460"/>
                </a:lnTo>
                <a:cubicBezTo>
                  <a:pt x="191026" y="444460"/>
                  <a:pt x="177784" y="431219"/>
                  <a:pt x="177784" y="414830"/>
                </a:cubicBezTo>
                <a:lnTo>
                  <a:pt x="177784" y="355568"/>
                </a:lnTo>
                <a:cubicBezTo>
                  <a:pt x="177784" y="339179"/>
                  <a:pt x="191026" y="325938"/>
                  <a:pt x="207415" y="325938"/>
                </a:cubicBezTo>
                <a:lnTo>
                  <a:pt x="214822" y="325938"/>
                </a:lnTo>
                <a:lnTo>
                  <a:pt x="214822" y="251862"/>
                </a:lnTo>
                <a:lnTo>
                  <a:pt x="103708" y="251862"/>
                </a:lnTo>
                <a:cubicBezTo>
                  <a:pt x="91392" y="251862"/>
                  <a:pt x="81485" y="261769"/>
                  <a:pt x="81485" y="274084"/>
                </a:cubicBezTo>
                <a:lnTo>
                  <a:pt x="81485" y="325938"/>
                </a:lnTo>
                <a:lnTo>
                  <a:pt x="88892" y="325938"/>
                </a:lnTo>
                <a:cubicBezTo>
                  <a:pt x="105281" y="325938"/>
                  <a:pt x="118523" y="339179"/>
                  <a:pt x="118523" y="355568"/>
                </a:cubicBezTo>
                <a:lnTo>
                  <a:pt x="118523" y="414830"/>
                </a:lnTo>
                <a:cubicBezTo>
                  <a:pt x="118523" y="431219"/>
                  <a:pt x="105281" y="444460"/>
                  <a:pt x="88892" y="444460"/>
                </a:cubicBezTo>
                <a:lnTo>
                  <a:pt x="29631" y="444460"/>
                </a:lnTo>
                <a:cubicBezTo>
                  <a:pt x="13241" y="444460"/>
                  <a:pt x="0" y="431219"/>
                  <a:pt x="0" y="414830"/>
                </a:cubicBezTo>
                <a:lnTo>
                  <a:pt x="0" y="355568"/>
                </a:lnTo>
                <a:cubicBezTo>
                  <a:pt x="0" y="339179"/>
                  <a:pt x="13241" y="325938"/>
                  <a:pt x="29631" y="325938"/>
                </a:cubicBezTo>
                <a:lnTo>
                  <a:pt x="37038" y="325938"/>
                </a:lnTo>
                <a:lnTo>
                  <a:pt x="37038" y="274084"/>
                </a:lnTo>
                <a:cubicBezTo>
                  <a:pt x="37038" y="237231"/>
                  <a:pt x="66854" y="207415"/>
                  <a:pt x="103708" y="207415"/>
                </a:cubicBezTo>
                <a:lnTo>
                  <a:pt x="214822" y="207415"/>
                </a:lnTo>
                <a:lnTo>
                  <a:pt x="214822" y="148153"/>
                </a:lnTo>
                <a:lnTo>
                  <a:pt x="207415" y="148153"/>
                </a:lnTo>
                <a:cubicBezTo>
                  <a:pt x="191026" y="148153"/>
                  <a:pt x="177784" y="134912"/>
                  <a:pt x="177784" y="118523"/>
                </a:cubicBezTo>
                <a:lnTo>
                  <a:pt x="177784" y="59261"/>
                </a:ln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842780" y="2864662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791355" y="2838944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Encodeur vs Décodeur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571406" y="3164699"/>
            <a:ext cx="374973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519981" y="3138982"/>
            <a:ext cx="3852586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L'architecture encodeur produit des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 pleinement contextualisés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où chaque token attend à tous les autres tokens. Le décodeur applique un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masquage causal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qui limite le flux d'information — les tokens précédents ne peuvent pas attendre aux suivants, réduisant le signal de classification.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/>
          <p:nvPr/>
        </p:nvSpPr>
        <p:spPr>
          <a:xfrm>
            <a:off x="4678225" y="2750326"/>
            <a:ext cx="4035413" cy="182165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4821090" y="2878913"/>
            <a:ext cx="199968" cy="200007"/>
          </a:xfrm>
          <a:custGeom>
            <a:rect b="b" l="l" r="r" t="t"/>
            <a:pathLst>
              <a:path extrusionOk="0" h="474091" w="474091">
                <a:moveTo>
                  <a:pt x="358532" y="-9167"/>
                </a:moveTo>
                <a:cubicBezTo>
                  <a:pt x="371124" y="-1204"/>
                  <a:pt x="375781" y="13241"/>
                  <a:pt x="370066" y="25834"/>
                </a:cubicBezTo>
                <a:lnTo>
                  <a:pt x="287100" y="207415"/>
                </a:lnTo>
                <a:lnTo>
                  <a:pt x="440227" y="207415"/>
                </a:lnTo>
                <a:cubicBezTo>
                  <a:pt x="454514" y="207415"/>
                  <a:pt x="467213" y="215193"/>
                  <a:pt x="472081" y="226953"/>
                </a:cubicBezTo>
                <a:cubicBezTo>
                  <a:pt x="476948" y="238712"/>
                  <a:pt x="472822" y="251862"/>
                  <a:pt x="461921" y="259823"/>
                </a:cubicBezTo>
                <a:lnTo>
                  <a:pt x="157149" y="482054"/>
                </a:lnTo>
                <a:cubicBezTo>
                  <a:pt x="145191" y="490759"/>
                  <a:pt x="128153" y="491221"/>
                  <a:pt x="115560" y="483258"/>
                </a:cubicBezTo>
                <a:cubicBezTo>
                  <a:pt x="102967" y="475295"/>
                  <a:pt x="98310" y="460850"/>
                  <a:pt x="104025" y="448257"/>
                </a:cubicBezTo>
                <a:lnTo>
                  <a:pt x="186991" y="266676"/>
                </a:lnTo>
                <a:lnTo>
                  <a:pt x="33864" y="266676"/>
                </a:lnTo>
                <a:cubicBezTo>
                  <a:pt x="19577" y="266676"/>
                  <a:pt x="6878" y="258898"/>
                  <a:pt x="2010" y="247138"/>
                </a:cubicBezTo>
                <a:cubicBezTo>
                  <a:pt x="-2857" y="235379"/>
                  <a:pt x="1269" y="222231"/>
                  <a:pt x="12170" y="214268"/>
                </a:cubicBezTo>
                <a:lnTo>
                  <a:pt x="316942" y="-7963"/>
                </a:lnTo>
                <a:cubicBezTo>
                  <a:pt x="328901" y="-16668"/>
                  <a:pt x="345938" y="-17130"/>
                  <a:pt x="358532" y="-9167"/>
                </a:cubicBezTo>
                <a:close/>
              </a:path>
            </a:pathLst>
          </a:custGeom>
          <a:solidFill>
            <a:srgbClr val="D4A373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1"/>
          <p:cNvSpPr/>
          <p:nvPr/>
        </p:nvSpPr>
        <p:spPr>
          <a:xfrm>
            <a:off x="5092517" y="2864662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1"/>
          <p:cNvSpPr/>
          <p:nvPr/>
        </p:nvSpPr>
        <p:spPr>
          <a:xfrm>
            <a:off x="5041092" y="2838944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Sensibilité à l'Optimiseur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4821090" y="3164699"/>
            <a:ext cx="3749736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1"/>
          <p:cNvSpPr/>
          <p:nvPr/>
        </p:nvSpPr>
        <p:spPr>
          <a:xfrm>
            <a:off x="4769665" y="3138982"/>
            <a:ext cx="3852586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L'architecture causale de GPT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amplifie les instabilités numériques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LAMB perd 13,41 points sur GPT vs BERT — l'écart le plus dramatique. Le flux de gradient unidirectionnel du décodeur est plus difficile à naviguer efficacement pour les optimiseurs.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1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1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1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2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555673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2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2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2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de Consommation des Ressources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8" name="Google Shape;7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41" y="771525"/>
            <a:ext cx="3999737" cy="2000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3954" y="771525"/>
            <a:ext cx="3999737" cy="20002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0" name="Google Shape;760;p32"/>
          <p:cNvGraphicFramePr/>
          <p:nvPr/>
        </p:nvGraphicFramePr>
        <p:xfrm>
          <a:off x="428541" y="2928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{78B41C8F-4F8E-4D80-896D-398BA306FE5C}</a:tableStyleId>
              </a:tblPr>
              <a:tblGrid>
                <a:gridCol w="1325600"/>
                <a:gridCol w="1159900"/>
                <a:gridCol w="1325600"/>
                <a:gridCol w="1159900"/>
                <a:gridCol w="1657025"/>
                <a:gridCol w="165702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Optimiseur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Mém. Crête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Débit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Coût Est.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Efficacité Mémoire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Verdict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AdamW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~2,8 Go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~37 ex/s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~0,172 $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Modérée (2 moments)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0D73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Meilleur équilibre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AdaFactor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~1,5 Go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~37 ex/s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~0,215 $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Élevée (factorisation)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5B8C5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Plus efficace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LAMB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~3,2 Go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~37 ex/s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~0,211 $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Faible (moments+ratio)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4A7FB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Mémoire la plus élevée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SGD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~1,2 Go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~40 ex/s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2D34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~0,163 $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Max (1 moment) — inutile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 u="none" cap="none" strike="noStrike">
                          <a:solidFill>
                            <a:srgbClr val="C75B3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Coût le plus bas, valeur nulle</a:t>
                      </a:r>
                      <a:endParaRPr sz="8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23150" marL="231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761" name="Google Shape;761;p32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2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3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3"/>
          <p:cNvSpPr/>
          <p:nvPr/>
        </p:nvSpPr>
        <p:spPr>
          <a:xfrm>
            <a:off x="5556734" y="42863"/>
            <a:ext cx="168561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3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3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3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3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3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3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3"/>
          <p:cNvSpPr/>
          <p:nvPr/>
        </p:nvSpPr>
        <p:spPr>
          <a:xfrm>
            <a:off x="542801" y="400068"/>
            <a:ext cx="4999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3"/>
          <p:cNvSpPr/>
          <p:nvPr/>
        </p:nvSpPr>
        <p:spPr>
          <a:xfrm>
            <a:off x="491376" y="374350"/>
            <a:ext cx="5102481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Expérience SQuAD — Confirmation de l'Échec SGD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3"/>
          <p:cNvSpPr/>
          <p:nvPr/>
        </p:nvSpPr>
        <p:spPr>
          <a:xfrm>
            <a:off x="428541" y="771525"/>
            <a:ext cx="2714113" cy="20002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3"/>
          <p:cNvSpPr/>
          <p:nvPr/>
        </p:nvSpPr>
        <p:spPr>
          <a:xfrm>
            <a:off x="542801" y="842945"/>
            <a:ext cx="248554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3"/>
          <p:cNvSpPr/>
          <p:nvPr/>
        </p:nvSpPr>
        <p:spPr>
          <a:xfrm>
            <a:off x="491376" y="817227"/>
            <a:ext cx="258838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Jeu de Données SQuAD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3"/>
          <p:cNvSpPr/>
          <p:nvPr/>
        </p:nvSpPr>
        <p:spPr>
          <a:xfrm>
            <a:off x="542801" y="1085868"/>
            <a:ext cx="2485540" cy="1600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3"/>
          <p:cNvSpPr/>
          <p:nvPr/>
        </p:nvSpPr>
        <p:spPr>
          <a:xfrm>
            <a:off x="491376" y="1060150"/>
            <a:ext cx="2588389" cy="165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Tâche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Compréhension de Lecture (QA)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Entraînement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87 599 passages + Q&amp;R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10 570 paires Q&amp;R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GPT-2 avec tête QA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Optimiseur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SGD uniquement (confirmation)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Époques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Objectif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Vérifier que l'échec SGD se généralise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5465" y="771525"/>
            <a:ext cx="2571248" cy="2000232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3"/>
          <p:cNvSpPr/>
          <p:nvPr/>
        </p:nvSpPr>
        <p:spPr>
          <a:xfrm>
            <a:off x="5999578" y="748283"/>
            <a:ext cx="2856924" cy="200023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3"/>
          <p:cNvSpPr/>
          <p:nvPr/>
        </p:nvSpPr>
        <p:spPr>
          <a:xfrm>
            <a:off x="6113838" y="842945"/>
            <a:ext cx="248554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3"/>
          <p:cNvSpPr/>
          <p:nvPr/>
        </p:nvSpPr>
        <p:spPr>
          <a:xfrm>
            <a:off x="6062413" y="817227"/>
            <a:ext cx="2588389" cy="26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SGD + SQuAD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6113838" y="1128730"/>
            <a:ext cx="2485540" cy="1557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3"/>
          <p:cNvSpPr/>
          <p:nvPr/>
        </p:nvSpPr>
        <p:spPr>
          <a:xfrm>
            <a:off x="6062413" y="1103013"/>
            <a:ext cx="2794089" cy="1608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Correspondance Exacte Finale : </a:t>
            </a: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 F1 : </a:t>
            </a:r>
            <a:r>
              <a:rPr b="1"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Temps d'entraînement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220 min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perte diminue à peine</a:t>
            </a:r>
            <a:r>
              <a:rPr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 2 époques complètes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SGD échoue sur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 transformers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quelle que soit la tâche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 l'architecture.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3"/>
          <p:cNvSpPr/>
          <p:nvPr/>
        </p:nvSpPr>
        <p:spPr>
          <a:xfrm>
            <a:off x="428541" y="3471027"/>
            <a:ext cx="8479386" cy="571518"/>
          </a:xfrm>
          <a:prstGeom prst="roundRect">
            <a:avLst>
              <a:gd fmla="val 6000" name="adj"/>
            </a:avLst>
          </a:prstGeom>
          <a:solidFill>
            <a:srgbClr val="C75B3F">
              <a:alpha val="392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3"/>
          <p:cNvSpPr/>
          <p:nvPr/>
        </p:nvSpPr>
        <p:spPr>
          <a:xfrm>
            <a:off x="613509" y="3530981"/>
            <a:ext cx="228573" cy="228618"/>
          </a:xfrm>
          <a:custGeom>
            <a:rect b="b" l="l" r="r" t="t"/>
            <a:pathLst>
              <a:path extrusionOk="0" h="541909" w="541909">
                <a:moveTo>
                  <a:pt x="270955" y="541909"/>
                </a:moveTo>
                <a:cubicBezTo>
                  <a:pt x="420498" y="541909"/>
                  <a:pt x="541909" y="420498"/>
                  <a:pt x="541909" y="270955"/>
                </a:cubicBezTo>
                <a:cubicBezTo>
                  <a:pt x="541909" y="121411"/>
                  <a:pt x="420498" y="0"/>
                  <a:pt x="270955" y="0"/>
                </a:cubicBezTo>
                <a:cubicBezTo>
                  <a:pt x="121411" y="0"/>
                  <a:pt x="0" y="121411"/>
                  <a:pt x="0" y="270955"/>
                </a:cubicBezTo>
                <a:cubicBezTo>
                  <a:pt x="0" y="420498"/>
                  <a:pt x="121411" y="541909"/>
                  <a:pt x="270955" y="541909"/>
                </a:cubicBezTo>
                <a:close/>
                <a:moveTo>
                  <a:pt x="176755" y="176755"/>
                </a:moveTo>
                <a:cubicBezTo>
                  <a:pt x="186705" y="166806"/>
                  <a:pt x="202793" y="166806"/>
                  <a:pt x="212635" y="176755"/>
                </a:cubicBezTo>
                <a:lnTo>
                  <a:pt x="270849" y="234969"/>
                </a:lnTo>
                <a:lnTo>
                  <a:pt x="329062" y="176755"/>
                </a:lnTo>
                <a:cubicBezTo>
                  <a:pt x="339010" y="166806"/>
                  <a:pt x="355098" y="166806"/>
                  <a:pt x="364942" y="176755"/>
                </a:cubicBezTo>
                <a:cubicBezTo>
                  <a:pt x="374785" y="186705"/>
                  <a:pt x="374891" y="202793"/>
                  <a:pt x="364942" y="212635"/>
                </a:cubicBezTo>
                <a:lnTo>
                  <a:pt x="306729" y="270849"/>
                </a:lnTo>
                <a:lnTo>
                  <a:pt x="364942" y="329062"/>
                </a:lnTo>
                <a:cubicBezTo>
                  <a:pt x="374891" y="339010"/>
                  <a:pt x="374891" y="355098"/>
                  <a:pt x="364942" y="364942"/>
                </a:cubicBezTo>
                <a:cubicBezTo>
                  <a:pt x="354993" y="374785"/>
                  <a:pt x="338905" y="374891"/>
                  <a:pt x="329062" y="364942"/>
                </a:cubicBezTo>
                <a:lnTo>
                  <a:pt x="270849" y="306729"/>
                </a:lnTo>
                <a:lnTo>
                  <a:pt x="212635" y="364942"/>
                </a:lnTo>
                <a:cubicBezTo>
                  <a:pt x="202687" y="374891"/>
                  <a:pt x="186599" y="374891"/>
                  <a:pt x="176755" y="364942"/>
                </a:cubicBezTo>
                <a:cubicBezTo>
                  <a:pt x="166912" y="354993"/>
                  <a:pt x="166806" y="338905"/>
                  <a:pt x="176755" y="329062"/>
                </a:cubicBezTo>
                <a:lnTo>
                  <a:pt x="234968" y="270849"/>
                </a:lnTo>
                <a:lnTo>
                  <a:pt x="176755" y="212635"/>
                </a:lnTo>
                <a:cubicBezTo>
                  <a:pt x="166806" y="202687"/>
                  <a:pt x="166806" y="186599"/>
                  <a:pt x="176755" y="176755"/>
                </a:cubicBezTo>
                <a:close/>
              </a:path>
            </a:pathLst>
          </a:cu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999948" y="3028932"/>
            <a:ext cx="7570878" cy="485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3"/>
          <p:cNvSpPr/>
          <p:nvPr/>
        </p:nvSpPr>
        <p:spPr>
          <a:xfrm>
            <a:off x="879344" y="3445309"/>
            <a:ext cx="7812086" cy="537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Inter-Tâches :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L'échec de SGD sur SST-2 (classification) est reproduit sur SQuAD (QA). Cela confirme que le mode d'échec est </a:t>
            </a: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fondamental à la géométrie des transformers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pas spécifique à une tâche. L'anisotropie du paysage de perte rend SGD inadapté quelle que soit l'architecture ou l'objectif.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3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3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4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7385213" y="42863"/>
            <a:ext cx="161415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4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4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4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4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4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Classement Global des Optimiseurs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428541" y="771525"/>
            <a:ext cx="8285150" cy="84294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542801" y="857250"/>
            <a:ext cx="342833" cy="34290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542801" y="857250"/>
            <a:ext cx="3428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491376" y="831533"/>
            <a:ext cx="445683" cy="394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999948" y="828693"/>
            <a:ext cx="1214218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4"/>
          <p:cNvSpPr/>
          <p:nvPr/>
        </p:nvSpPr>
        <p:spPr>
          <a:xfrm>
            <a:off x="948523" y="802975"/>
            <a:ext cx="1317068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4"/>
          <p:cNvSpPr/>
          <p:nvPr/>
        </p:nvSpPr>
        <p:spPr>
          <a:xfrm>
            <a:off x="999948" y="1085868"/>
            <a:ext cx="999948" cy="157145"/>
          </a:xfrm>
          <a:prstGeom prst="roundRect">
            <a:avLst>
              <a:gd fmla="val 16000" name="adj"/>
            </a:avLst>
          </a:prstGeom>
          <a:solidFill>
            <a:srgbClr val="0D7377">
              <a:alpha val="784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4"/>
          <p:cNvSpPr/>
          <p:nvPr/>
        </p:nvSpPr>
        <p:spPr>
          <a:xfrm>
            <a:off x="999948" y="1085868"/>
            <a:ext cx="999948" cy="157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948523" y="1060150"/>
            <a:ext cx="1102797" cy="20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ÉTALON-OR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4"/>
          <p:cNvSpPr/>
          <p:nvPr/>
        </p:nvSpPr>
        <p:spPr>
          <a:xfrm>
            <a:off x="2285571" y="842945"/>
            <a:ext cx="2356977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2234147" y="817227"/>
            <a:ext cx="2459827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92,89%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GPT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89,56%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Mém : 2,8 Go  ·  Temps : 29,6 min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4713954" y="842945"/>
            <a:ext cx="3856872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4"/>
          <p:cNvSpPr/>
          <p:nvPr/>
        </p:nvSpPr>
        <p:spPr>
          <a:xfrm>
            <a:off x="4662529" y="817227"/>
            <a:ext cx="3959722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global — convergence rapide et stable.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Étalon-or pour le fine-tuning de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428541" y="1714500"/>
            <a:ext cx="8285150" cy="84294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542801" y="1800225"/>
            <a:ext cx="342833" cy="342900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542801" y="1800225"/>
            <a:ext cx="3428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4"/>
          <p:cNvSpPr/>
          <p:nvPr/>
        </p:nvSpPr>
        <p:spPr>
          <a:xfrm>
            <a:off x="491376" y="1774507"/>
            <a:ext cx="445683" cy="394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4"/>
          <p:cNvSpPr/>
          <p:nvPr/>
        </p:nvSpPr>
        <p:spPr>
          <a:xfrm>
            <a:off x="999948" y="1771668"/>
            <a:ext cx="1214218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948523" y="1745950"/>
            <a:ext cx="1317068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4"/>
          <p:cNvSpPr/>
          <p:nvPr/>
        </p:nvSpPr>
        <p:spPr>
          <a:xfrm>
            <a:off x="999948" y="2028843"/>
            <a:ext cx="999948" cy="157145"/>
          </a:xfrm>
          <a:prstGeom prst="roundRect">
            <a:avLst>
              <a:gd fmla="val 16000" name="adj"/>
            </a:avLst>
          </a:prstGeom>
          <a:solidFill>
            <a:srgbClr val="5B8C5A">
              <a:alpha val="784"/>
            </a:srgbClr>
          </a:solidFill>
          <a:ln cap="flat" cmpd="sng" w="12700">
            <a:solidFill>
              <a:srgbClr val="5B8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999948" y="2028843"/>
            <a:ext cx="999948" cy="157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4"/>
          <p:cNvSpPr/>
          <p:nvPr/>
        </p:nvSpPr>
        <p:spPr>
          <a:xfrm>
            <a:off x="948523" y="2003125"/>
            <a:ext cx="1102797" cy="20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MEILLEURE EFFICACITÉ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4"/>
          <p:cNvSpPr/>
          <p:nvPr/>
        </p:nvSpPr>
        <p:spPr>
          <a:xfrm>
            <a:off x="2285571" y="1785920"/>
            <a:ext cx="2356977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4"/>
          <p:cNvSpPr/>
          <p:nvPr/>
        </p:nvSpPr>
        <p:spPr>
          <a:xfrm>
            <a:off x="2234147" y="1760202"/>
            <a:ext cx="2459827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90,25%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GPT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80,73%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Mém : 1,5 Go  ·  ~46% moins de mémoire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4"/>
          <p:cNvSpPr/>
          <p:nvPr/>
        </p:nvSpPr>
        <p:spPr>
          <a:xfrm>
            <a:off x="4713954" y="1785920"/>
            <a:ext cx="3856872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4662529" y="1760202"/>
            <a:ext cx="3959722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ratio performance/mémoire.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Idéal pour grands modèles ou GPU limité.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/>
          <p:nvPr/>
        </p:nvSpPr>
        <p:spPr>
          <a:xfrm>
            <a:off x="428541" y="2657475"/>
            <a:ext cx="8285150" cy="84294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542801" y="2743200"/>
            <a:ext cx="342833" cy="342900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4"/>
          <p:cNvSpPr/>
          <p:nvPr/>
        </p:nvSpPr>
        <p:spPr>
          <a:xfrm>
            <a:off x="542801" y="2743200"/>
            <a:ext cx="3428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491376" y="2717482"/>
            <a:ext cx="445683" cy="394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999948" y="2714643"/>
            <a:ext cx="1214218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4"/>
          <p:cNvSpPr/>
          <p:nvPr/>
        </p:nvSpPr>
        <p:spPr>
          <a:xfrm>
            <a:off x="948523" y="2688925"/>
            <a:ext cx="1317068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948523" y="2971818"/>
            <a:ext cx="1102797" cy="157145"/>
          </a:xfrm>
          <a:prstGeom prst="roundRect">
            <a:avLst>
              <a:gd fmla="val 16000" name="adj"/>
            </a:avLst>
          </a:prstGeom>
          <a:solidFill>
            <a:srgbClr val="4A7FB5">
              <a:alpha val="784"/>
            </a:srgbClr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4"/>
          <p:cNvSpPr/>
          <p:nvPr/>
        </p:nvSpPr>
        <p:spPr>
          <a:xfrm>
            <a:off x="999948" y="2971818"/>
            <a:ext cx="999948" cy="157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4"/>
          <p:cNvSpPr/>
          <p:nvPr/>
        </p:nvSpPr>
        <p:spPr>
          <a:xfrm>
            <a:off x="948523" y="2946100"/>
            <a:ext cx="1102797" cy="20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DÉPENDANT DU CONTEXTE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2285571" y="2728895"/>
            <a:ext cx="2356977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4"/>
          <p:cNvSpPr/>
          <p:nvPr/>
        </p:nvSpPr>
        <p:spPr>
          <a:xfrm>
            <a:off x="2234147" y="2703177"/>
            <a:ext cx="2459827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89,56%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GPT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76,15%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Mém : 3,2 Go  ·  Nécessite batch &gt;512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4"/>
          <p:cNvSpPr/>
          <p:nvPr/>
        </p:nvSpPr>
        <p:spPr>
          <a:xfrm>
            <a:off x="4713954" y="2728895"/>
            <a:ext cx="3856872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4"/>
          <p:cNvSpPr/>
          <p:nvPr/>
        </p:nvSpPr>
        <p:spPr>
          <a:xfrm>
            <a:off x="4662529" y="2703177"/>
            <a:ext cx="3959722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 pour BERT, instable sur GPT.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Viable uniquement avec très grands batchs.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4"/>
          <p:cNvSpPr/>
          <p:nvPr/>
        </p:nvSpPr>
        <p:spPr>
          <a:xfrm>
            <a:off x="428541" y="3600450"/>
            <a:ext cx="8285150" cy="842945"/>
          </a:xfrm>
          <a:prstGeom prst="roundRect">
            <a:avLst>
              <a:gd fmla="val 6000" name="adj"/>
            </a:avLst>
          </a:prstGeom>
          <a:solidFill>
            <a:srgbClr val="C75B3F">
              <a:alpha val="0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4"/>
          <p:cNvSpPr/>
          <p:nvPr/>
        </p:nvSpPr>
        <p:spPr>
          <a:xfrm>
            <a:off x="542801" y="3686175"/>
            <a:ext cx="342833" cy="342900"/>
          </a:xfrm>
          <a:prstGeom prst="ellipse">
            <a:avLst/>
          </a:pr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542801" y="3686175"/>
            <a:ext cx="3428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91376" y="3660457"/>
            <a:ext cx="445683" cy="394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999948" y="3657618"/>
            <a:ext cx="142848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4"/>
          <p:cNvSpPr/>
          <p:nvPr/>
        </p:nvSpPr>
        <p:spPr>
          <a:xfrm>
            <a:off x="948523" y="3631900"/>
            <a:ext cx="153133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+ Warmup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/>
          <p:nvPr/>
        </p:nvSpPr>
        <p:spPr>
          <a:xfrm>
            <a:off x="999948" y="3914793"/>
            <a:ext cx="714218" cy="157145"/>
          </a:xfrm>
          <a:prstGeom prst="roundRect">
            <a:avLst>
              <a:gd fmla="val 16000" name="adj"/>
            </a:avLst>
          </a:prstGeom>
          <a:solidFill>
            <a:srgbClr val="C75B3F">
              <a:alpha val="784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4"/>
          <p:cNvSpPr/>
          <p:nvPr/>
        </p:nvSpPr>
        <p:spPr>
          <a:xfrm>
            <a:off x="999948" y="3914793"/>
            <a:ext cx="714218" cy="157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4"/>
          <p:cNvSpPr/>
          <p:nvPr/>
        </p:nvSpPr>
        <p:spPr>
          <a:xfrm>
            <a:off x="948523" y="3889075"/>
            <a:ext cx="817068" cy="20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À ÉVITER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/>
          <p:nvPr/>
        </p:nvSpPr>
        <p:spPr>
          <a:xfrm>
            <a:off x="2571248" y="3671870"/>
            <a:ext cx="2071301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4"/>
          <p:cNvSpPr/>
          <p:nvPr/>
        </p:nvSpPr>
        <p:spPr>
          <a:xfrm>
            <a:off x="2519823" y="3646152"/>
            <a:ext cx="2174151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: </a:t>
            </a: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50,80%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GPT : </a:t>
            </a: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50,57%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Mém : 1,2 Go  ·  ≈ Choix aléatoire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4"/>
          <p:cNvSpPr/>
          <p:nvPr/>
        </p:nvSpPr>
        <p:spPr>
          <a:xfrm>
            <a:off x="4713954" y="3671870"/>
            <a:ext cx="3856872" cy="542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4662529" y="3646152"/>
            <a:ext cx="3959722" cy="594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Échec systématique — ne jamais utiliser pour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fine-tuning de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5"/>
          <p:cNvSpPr/>
          <p:nvPr/>
        </p:nvSpPr>
        <p:spPr>
          <a:xfrm>
            <a:off x="7385213" y="42863"/>
            <a:ext cx="161415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5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5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5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5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5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5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5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5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5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5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Recommandations Pratiques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428541" y="771525"/>
            <a:ext cx="8285150" cy="64293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5"/>
          <p:cNvSpPr/>
          <p:nvPr/>
        </p:nvSpPr>
        <p:spPr>
          <a:xfrm>
            <a:off x="571406" y="928670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1"/>
                  <a:pt x="158749" y="184151"/>
                </a:cubicBezTo>
                <a:cubicBezTo>
                  <a:pt x="148193" y="184151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1" y="224235"/>
                </a:cubicBezTo>
                <a:lnTo>
                  <a:pt x="222251" y="227251"/>
                </a:lnTo>
                <a:cubicBezTo>
                  <a:pt x="222251" y="237808"/>
                  <a:pt x="213757" y="246300"/>
                  <a:pt x="203200" y="246300"/>
                </a:cubicBezTo>
                <a:cubicBezTo>
                  <a:pt x="192643" y="246300"/>
                  <a:pt x="184151" y="237808"/>
                  <a:pt x="184151" y="227251"/>
                </a:cubicBezTo>
                <a:lnTo>
                  <a:pt x="184151" y="220821"/>
                </a:lnTo>
                <a:cubicBezTo>
                  <a:pt x="184151" y="204549"/>
                  <a:pt x="195897" y="192881"/>
                  <a:pt x="208041" y="188912"/>
                </a:cubicBezTo>
                <a:cubicBezTo>
                  <a:pt x="213121" y="187245"/>
                  <a:pt x="218520" y="184547"/>
                  <a:pt x="222488" y="180737"/>
                </a:cubicBezTo>
                <a:cubicBezTo>
                  <a:pt x="225901" y="177403"/>
                  <a:pt x="228600" y="172800"/>
                  <a:pt x="228600" y="165180"/>
                </a:cubicBezTo>
                <a:cubicBezTo>
                  <a:pt x="228600" y="151131"/>
                  <a:pt x="217249" y="139780"/>
                  <a:pt x="203200" y="139780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828531" y="828693"/>
            <a:ext cx="7742295" cy="52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777106" y="802975"/>
            <a:ext cx="7845145" cy="58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: Choix par défaut pour le fine-tuning de transformers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Utiliser AdamW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avec lr=2e-5, weight_decay=0,01, warmup 10%. Étalon-or pour BERT et GPT.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5"/>
          <p:cNvSpPr/>
          <p:nvPr/>
        </p:nvSpPr>
        <p:spPr>
          <a:xfrm>
            <a:off x="428541" y="1500188"/>
            <a:ext cx="8285150" cy="64293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>
            <a:off x="571406" y="1657332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1"/>
                  <a:pt x="158749" y="184151"/>
                </a:cubicBezTo>
                <a:cubicBezTo>
                  <a:pt x="148193" y="184151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1" y="224235"/>
                </a:cubicBezTo>
                <a:lnTo>
                  <a:pt x="222251" y="227251"/>
                </a:lnTo>
                <a:cubicBezTo>
                  <a:pt x="222251" y="237808"/>
                  <a:pt x="213757" y="246300"/>
                  <a:pt x="203200" y="246300"/>
                </a:cubicBezTo>
                <a:cubicBezTo>
                  <a:pt x="192643" y="246300"/>
                  <a:pt x="184151" y="237808"/>
                  <a:pt x="184151" y="227251"/>
                </a:cubicBezTo>
                <a:lnTo>
                  <a:pt x="184151" y="220821"/>
                </a:lnTo>
                <a:cubicBezTo>
                  <a:pt x="184151" y="204549"/>
                  <a:pt x="195897" y="192881"/>
                  <a:pt x="208041" y="188912"/>
                </a:cubicBezTo>
                <a:cubicBezTo>
                  <a:pt x="213121" y="187245"/>
                  <a:pt x="218520" y="184547"/>
                  <a:pt x="222488" y="180737"/>
                </a:cubicBezTo>
                <a:cubicBezTo>
                  <a:pt x="225901" y="177403"/>
                  <a:pt x="228600" y="172800"/>
                  <a:pt x="228600" y="165180"/>
                </a:cubicBezTo>
                <a:cubicBezTo>
                  <a:pt x="228600" y="151131"/>
                  <a:pt x="217249" y="139780"/>
                  <a:pt x="203200" y="139780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828531" y="1557355"/>
            <a:ext cx="7742295" cy="52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5"/>
          <p:cNvSpPr/>
          <p:nvPr/>
        </p:nvSpPr>
        <p:spPr>
          <a:xfrm>
            <a:off x="777106" y="1531638"/>
            <a:ext cx="7845145" cy="58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: La mémoire GPU est limitée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Passer à AdaFactor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économise ~46% de mémoire avec seulement ~2,6% de perte de précision sur BERT.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5"/>
          <p:cNvSpPr/>
          <p:nvPr/>
        </p:nvSpPr>
        <p:spPr>
          <a:xfrm>
            <a:off x="428541" y="2228850"/>
            <a:ext cx="8285150" cy="64293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5"/>
          <p:cNvSpPr/>
          <p:nvPr/>
        </p:nvSpPr>
        <p:spPr>
          <a:xfrm>
            <a:off x="571406" y="2385995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1"/>
                  <a:pt x="158749" y="184151"/>
                </a:cubicBezTo>
                <a:cubicBezTo>
                  <a:pt x="148193" y="184151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1" y="224235"/>
                </a:cubicBezTo>
                <a:lnTo>
                  <a:pt x="222251" y="227251"/>
                </a:lnTo>
                <a:cubicBezTo>
                  <a:pt x="222251" y="237808"/>
                  <a:pt x="213757" y="246300"/>
                  <a:pt x="203200" y="246300"/>
                </a:cubicBezTo>
                <a:cubicBezTo>
                  <a:pt x="192643" y="246300"/>
                  <a:pt x="184151" y="237808"/>
                  <a:pt x="184151" y="227251"/>
                </a:cubicBezTo>
                <a:lnTo>
                  <a:pt x="184151" y="220821"/>
                </a:lnTo>
                <a:cubicBezTo>
                  <a:pt x="184151" y="204549"/>
                  <a:pt x="195897" y="192881"/>
                  <a:pt x="208041" y="188912"/>
                </a:cubicBezTo>
                <a:cubicBezTo>
                  <a:pt x="213121" y="187245"/>
                  <a:pt x="218520" y="184547"/>
                  <a:pt x="222488" y="180737"/>
                </a:cubicBezTo>
                <a:cubicBezTo>
                  <a:pt x="225901" y="177403"/>
                  <a:pt x="228600" y="172800"/>
                  <a:pt x="228600" y="165180"/>
                </a:cubicBezTo>
                <a:cubicBezTo>
                  <a:pt x="228600" y="151131"/>
                  <a:pt x="217249" y="139780"/>
                  <a:pt x="203200" y="139780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828531" y="2286018"/>
            <a:ext cx="7742295" cy="52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5"/>
          <p:cNvSpPr/>
          <p:nvPr/>
        </p:nvSpPr>
        <p:spPr>
          <a:xfrm>
            <a:off x="777106" y="2260300"/>
            <a:ext cx="7845145" cy="58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: Entraînement avec grands batchs (&gt;512)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LAMB peut aider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conçu pour des tailles de batch &gt;1024. Tester avec BERT d'abord, éviter avec GPT.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5"/>
          <p:cNvSpPr/>
          <p:nvPr/>
        </p:nvSpPr>
        <p:spPr>
          <a:xfrm>
            <a:off x="428541" y="2957513"/>
            <a:ext cx="8285150" cy="64293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5"/>
          <p:cNvSpPr/>
          <p:nvPr/>
        </p:nvSpPr>
        <p:spPr>
          <a:xfrm>
            <a:off x="571406" y="3114657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1"/>
                  <a:pt x="158749" y="184151"/>
                </a:cubicBezTo>
                <a:cubicBezTo>
                  <a:pt x="148193" y="184151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1" y="224235"/>
                </a:cubicBezTo>
                <a:lnTo>
                  <a:pt x="222251" y="227251"/>
                </a:lnTo>
                <a:cubicBezTo>
                  <a:pt x="222251" y="237808"/>
                  <a:pt x="213757" y="246300"/>
                  <a:pt x="203200" y="246300"/>
                </a:cubicBezTo>
                <a:cubicBezTo>
                  <a:pt x="192643" y="246300"/>
                  <a:pt x="184151" y="237808"/>
                  <a:pt x="184151" y="227251"/>
                </a:cubicBezTo>
                <a:lnTo>
                  <a:pt x="184151" y="220821"/>
                </a:lnTo>
                <a:cubicBezTo>
                  <a:pt x="184151" y="204549"/>
                  <a:pt x="195897" y="192881"/>
                  <a:pt x="208041" y="188912"/>
                </a:cubicBezTo>
                <a:cubicBezTo>
                  <a:pt x="213121" y="187245"/>
                  <a:pt x="218520" y="184547"/>
                  <a:pt x="222488" y="180737"/>
                </a:cubicBezTo>
                <a:cubicBezTo>
                  <a:pt x="225901" y="177403"/>
                  <a:pt x="228600" y="172800"/>
                  <a:pt x="228600" y="165180"/>
                </a:cubicBezTo>
                <a:cubicBezTo>
                  <a:pt x="228600" y="151131"/>
                  <a:pt x="217249" y="139780"/>
                  <a:pt x="203200" y="139780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828531" y="3014680"/>
            <a:ext cx="7742295" cy="52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5"/>
          <p:cNvSpPr/>
          <p:nvPr/>
        </p:nvSpPr>
        <p:spPr>
          <a:xfrm>
            <a:off x="777106" y="2988963"/>
            <a:ext cx="7845145" cy="58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: Tâche de classification (sentiment, NLI…)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Préférer BERT à GPT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le pré-entraînement bidirectionnel offre un avantage systématique.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5"/>
          <p:cNvSpPr/>
          <p:nvPr/>
        </p:nvSpPr>
        <p:spPr>
          <a:xfrm>
            <a:off x="428541" y="3686175"/>
            <a:ext cx="8285150" cy="642938"/>
          </a:xfrm>
          <a:prstGeom prst="roundRect">
            <a:avLst>
              <a:gd fmla="val 6000" name="adj"/>
            </a:avLst>
          </a:prstGeom>
          <a:solidFill>
            <a:srgbClr val="C75B3F">
              <a:alpha val="0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5"/>
          <p:cNvSpPr/>
          <p:nvPr/>
        </p:nvSpPr>
        <p:spPr>
          <a:xfrm>
            <a:off x="571406" y="3843320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1"/>
                  <a:pt x="158749" y="184151"/>
                </a:cubicBezTo>
                <a:cubicBezTo>
                  <a:pt x="148193" y="184151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1" y="224235"/>
                </a:cubicBezTo>
                <a:lnTo>
                  <a:pt x="222251" y="227251"/>
                </a:lnTo>
                <a:cubicBezTo>
                  <a:pt x="222251" y="237808"/>
                  <a:pt x="213757" y="246300"/>
                  <a:pt x="203200" y="246300"/>
                </a:cubicBezTo>
                <a:cubicBezTo>
                  <a:pt x="192643" y="246300"/>
                  <a:pt x="184151" y="237808"/>
                  <a:pt x="184151" y="227251"/>
                </a:cubicBezTo>
                <a:lnTo>
                  <a:pt x="184151" y="220821"/>
                </a:lnTo>
                <a:cubicBezTo>
                  <a:pt x="184151" y="204549"/>
                  <a:pt x="195897" y="192881"/>
                  <a:pt x="208041" y="188912"/>
                </a:cubicBezTo>
                <a:cubicBezTo>
                  <a:pt x="213121" y="187245"/>
                  <a:pt x="218520" y="184547"/>
                  <a:pt x="222488" y="180737"/>
                </a:cubicBezTo>
                <a:cubicBezTo>
                  <a:pt x="225901" y="177403"/>
                  <a:pt x="228600" y="172800"/>
                  <a:pt x="228600" y="165180"/>
                </a:cubicBezTo>
                <a:cubicBezTo>
                  <a:pt x="228600" y="151131"/>
                  <a:pt x="217249" y="139780"/>
                  <a:pt x="203200" y="139780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5"/>
          <p:cNvSpPr/>
          <p:nvPr/>
        </p:nvSpPr>
        <p:spPr>
          <a:xfrm>
            <a:off x="828531" y="3743343"/>
            <a:ext cx="7742295" cy="52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5"/>
          <p:cNvSpPr/>
          <p:nvPr/>
        </p:nvSpPr>
        <p:spPr>
          <a:xfrm>
            <a:off x="777106" y="3717625"/>
            <a:ext cx="7845145" cy="58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 : Devrais-je essayer SGD 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NON.</a:t>
            </a: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SGD ne peut naviguer la géométrie des transformers. Les résultats sont équivalents à un choix aléatoire (~50%).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5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5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5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6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6"/>
          <p:cNvSpPr/>
          <p:nvPr/>
        </p:nvSpPr>
        <p:spPr>
          <a:xfrm>
            <a:off x="7385213" y="42863"/>
            <a:ext cx="161415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6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6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6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6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6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6"/>
          <p:cNvSpPr/>
          <p:nvPr/>
        </p:nvSpPr>
        <p:spPr>
          <a:xfrm>
            <a:off x="542801" y="400068"/>
            <a:ext cx="42854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491376" y="374350"/>
            <a:ext cx="4388263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Travaux Futurs &amp; Extensions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428541" y="785830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571406" y="900113"/>
            <a:ext cx="171417" cy="171450"/>
          </a:xfrm>
          <a:custGeom>
            <a:rect b="b" l="l" r="r" t="t"/>
            <a:pathLst>
              <a:path extrusionOk="0" h="406400" w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1" y="232489"/>
                  <a:pt x="-2301" y="215503"/>
                </a:cubicBezTo>
                <a:lnTo>
                  <a:pt x="39688" y="145495"/>
                </a:lnTo>
                <a:cubicBezTo>
                  <a:pt x="46593" y="133985"/>
                  <a:pt x="58976" y="127000"/>
                  <a:pt x="72391" y="127000"/>
                </a:cubicBezTo>
                <a:lnTo>
                  <a:pt x="147796" y="127000"/>
                </a:lnTo>
                <a:cubicBezTo>
                  <a:pt x="208200" y="24685"/>
                  <a:pt x="298291" y="19527"/>
                  <a:pt x="358537" y="28337"/>
                </a:cubicBezTo>
                <a:cubicBezTo>
                  <a:pt x="368697" y="29845"/>
                  <a:pt x="376635" y="37783"/>
                  <a:pt x="378063" y="47863"/>
                </a:cubicBezTo>
                <a:cubicBezTo>
                  <a:pt x="386873" y="108109"/>
                  <a:pt x="381715" y="198200"/>
                  <a:pt x="279400" y="258604"/>
                </a:cubicBezTo>
                <a:lnTo>
                  <a:pt x="279400" y="334011"/>
                </a:lnTo>
                <a:cubicBezTo>
                  <a:pt x="279400" y="347424"/>
                  <a:pt x="272415" y="359807"/>
                  <a:pt x="260905" y="366712"/>
                </a:cubicBezTo>
                <a:lnTo>
                  <a:pt x="190897" y="408701"/>
                </a:lnTo>
                <a:cubicBezTo>
                  <a:pt x="173991" y="418861"/>
                  <a:pt x="152400" y="406639"/>
                  <a:pt x="152400" y="386953"/>
                </a:cubicBezTo>
                <a:lnTo>
                  <a:pt x="152400" y="304800"/>
                </a:lnTo>
                <a:cubicBezTo>
                  <a:pt x="152400" y="276780"/>
                  <a:pt x="129620" y="254000"/>
                  <a:pt x="101600" y="254000"/>
                </a:cubicBezTo>
                <a:lnTo>
                  <a:pt x="101520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6"/>
          <p:cNvSpPr/>
          <p:nvPr/>
        </p:nvSpPr>
        <p:spPr>
          <a:xfrm>
            <a:off x="814228" y="885807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6"/>
          <p:cNvSpPr/>
          <p:nvPr/>
        </p:nvSpPr>
        <p:spPr>
          <a:xfrm>
            <a:off x="762804" y="860090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Optimiseur Lion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571406" y="1128730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519981" y="1103013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Optimiseur basé sur la recherche évolutionnaire (Chen et al., 2023). Résultats prometteurs en vision et NLP à moindre coût qu'AdamW.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3249789" y="785830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6"/>
          <p:cNvSpPr/>
          <p:nvPr/>
        </p:nvSpPr>
        <p:spPr>
          <a:xfrm>
            <a:off x="3392601" y="900113"/>
            <a:ext cx="171417" cy="171450"/>
          </a:xfrm>
          <a:custGeom>
            <a:rect b="b" l="l" r="r" t="t"/>
            <a:pathLst>
              <a:path extrusionOk="0" h="406400" w="406400">
                <a:moveTo>
                  <a:pt x="29028" y="25400"/>
                </a:moveTo>
                <a:cubicBezTo>
                  <a:pt x="12972" y="25400"/>
                  <a:pt x="0" y="36751"/>
                  <a:pt x="0" y="50800"/>
                </a:cubicBezTo>
                <a:lnTo>
                  <a:pt x="0" y="127000"/>
                </a:lnTo>
                <a:cubicBezTo>
                  <a:pt x="0" y="141049"/>
                  <a:pt x="12972" y="152400"/>
                  <a:pt x="29028" y="152400"/>
                </a:cubicBezTo>
                <a:cubicBezTo>
                  <a:pt x="45085" y="152400"/>
                  <a:pt x="58057" y="141049"/>
                  <a:pt x="58057" y="127000"/>
                </a:cubicBezTo>
                <a:lnTo>
                  <a:pt x="58057" y="76200"/>
                </a:lnTo>
                <a:lnTo>
                  <a:pt x="116115" y="76200"/>
                </a:lnTo>
                <a:cubicBezTo>
                  <a:pt x="132171" y="76200"/>
                  <a:pt x="145143" y="64849"/>
                  <a:pt x="145143" y="50800"/>
                </a:cubicBezTo>
                <a:cubicBezTo>
                  <a:pt x="145143" y="36751"/>
                  <a:pt x="132171" y="25400"/>
                  <a:pt x="116115" y="25400"/>
                </a:cubicBezTo>
                <a:lnTo>
                  <a:pt x="29028" y="25400"/>
                </a:lnTo>
                <a:close/>
                <a:moveTo>
                  <a:pt x="58057" y="279400"/>
                </a:moveTo>
                <a:cubicBezTo>
                  <a:pt x="58057" y="265351"/>
                  <a:pt x="45085" y="254000"/>
                  <a:pt x="29028" y="254000"/>
                </a:cubicBezTo>
                <a:cubicBezTo>
                  <a:pt x="12972" y="254000"/>
                  <a:pt x="0" y="265351"/>
                  <a:pt x="0" y="279400"/>
                </a:cubicBezTo>
                <a:lnTo>
                  <a:pt x="0" y="355600"/>
                </a:lnTo>
                <a:cubicBezTo>
                  <a:pt x="0" y="369649"/>
                  <a:pt x="12972" y="381000"/>
                  <a:pt x="29028" y="381000"/>
                </a:cubicBezTo>
                <a:lnTo>
                  <a:pt x="116115" y="381000"/>
                </a:lnTo>
                <a:cubicBezTo>
                  <a:pt x="132171" y="381000"/>
                  <a:pt x="145143" y="369649"/>
                  <a:pt x="145143" y="355600"/>
                </a:cubicBezTo>
                <a:cubicBezTo>
                  <a:pt x="145143" y="341551"/>
                  <a:pt x="132171" y="330200"/>
                  <a:pt x="116115" y="330200"/>
                </a:cubicBez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290285" y="25400"/>
                </a:moveTo>
                <a:cubicBezTo>
                  <a:pt x="274229" y="25400"/>
                  <a:pt x="261257" y="36751"/>
                  <a:pt x="261257" y="50800"/>
                </a:cubicBezTo>
                <a:cubicBezTo>
                  <a:pt x="261257" y="64849"/>
                  <a:pt x="274229" y="76200"/>
                  <a:pt x="290285" y="76200"/>
                </a:cubicBezTo>
                <a:lnTo>
                  <a:pt x="348343" y="76200"/>
                </a:lnTo>
                <a:lnTo>
                  <a:pt x="348343" y="127000"/>
                </a:lnTo>
                <a:cubicBezTo>
                  <a:pt x="348343" y="141049"/>
                  <a:pt x="361315" y="152400"/>
                  <a:pt x="377372" y="152400"/>
                </a:cubicBezTo>
                <a:cubicBezTo>
                  <a:pt x="393428" y="152400"/>
                  <a:pt x="406400" y="141049"/>
                  <a:pt x="406400" y="127000"/>
                </a:cubicBezTo>
                <a:lnTo>
                  <a:pt x="406400" y="50800"/>
                </a:lnTo>
                <a:cubicBezTo>
                  <a:pt x="406400" y="36751"/>
                  <a:pt x="393428" y="25400"/>
                  <a:pt x="377372" y="25400"/>
                </a:cubicBezTo>
                <a:lnTo>
                  <a:pt x="290285" y="25400"/>
                </a:lnTo>
                <a:close/>
                <a:moveTo>
                  <a:pt x="406400" y="279400"/>
                </a:moveTo>
                <a:cubicBezTo>
                  <a:pt x="406400" y="265351"/>
                  <a:pt x="393428" y="254000"/>
                  <a:pt x="377372" y="254000"/>
                </a:cubicBezTo>
                <a:cubicBezTo>
                  <a:pt x="361315" y="254000"/>
                  <a:pt x="348343" y="265351"/>
                  <a:pt x="348343" y="279400"/>
                </a:cubicBezTo>
                <a:lnTo>
                  <a:pt x="348343" y="330200"/>
                </a:lnTo>
                <a:lnTo>
                  <a:pt x="290285" y="330200"/>
                </a:lnTo>
                <a:cubicBezTo>
                  <a:pt x="274229" y="330200"/>
                  <a:pt x="261257" y="341551"/>
                  <a:pt x="261257" y="355600"/>
                </a:cubicBezTo>
                <a:cubicBezTo>
                  <a:pt x="261257" y="369649"/>
                  <a:pt x="274229" y="381000"/>
                  <a:pt x="290285" y="381000"/>
                </a:cubicBezTo>
                <a:lnTo>
                  <a:pt x="377372" y="381000"/>
                </a:lnTo>
                <a:cubicBezTo>
                  <a:pt x="393428" y="381000"/>
                  <a:pt x="406400" y="369649"/>
                  <a:pt x="406400" y="355600"/>
                </a:cubicBezTo>
                <a:lnTo>
                  <a:pt x="406400" y="279400"/>
                </a:ln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6"/>
          <p:cNvSpPr/>
          <p:nvPr/>
        </p:nvSpPr>
        <p:spPr>
          <a:xfrm>
            <a:off x="3635477" y="885807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6"/>
          <p:cNvSpPr/>
          <p:nvPr/>
        </p:nvSpPr>
        <p:spPr>
          <a:xfrm>
            <a:off x="3584052" y="860090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Modèles Plus Grands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6"/>
          <p:cNvSpPr/>
          <p:nvPr/>
        </p:nvSpPr>
        <p:spPr>
          <a:xfrm>
            <a:off x="3392601" y="1128730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6"/>
          <p:cNvSpPr/>
          <p:nvPr/>
        </p:nvSpPr>
        <p:spPr>
          <a:xfrm>
            <a:off x="3341176" y="1103013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Étendre à RoBERTa, DistilBERT, TinyBERT, GPT-2 Large pour analyser l'impact de l'optimiseur à grande échelle.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6"/>
          <p:cNvSpPr/>
          <p:nvPr/>
        </p:nvSpPr>
        <p:spPr>
          <a:xfrm>
            <a:off x="6070984" y="785830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6"/>
          <p:cNvSpPr/>
          <p:nvPr/>
        </p:nvSpPr>
        <p:spPr>
          <a:xfrm>
            <a:off x="6213849" y="900113"/>
            <a:ext cx="171417" cy="171450"/>
          </a:xfrm>
          <a:custGeom>
            <a:rect b="b" l="l" r="r" t="t"/>
            <a:pathLst>
              <a:path extrusionOk="0" h="406400" w="406400">
                <a:moveTo>
                  <a:pt x="406400" y="163353"/>
                </a:moveTo>
                <a:cubicBezTo>
                  <a:pt x="392975" y="171132"/>
                  <a:pt x="377553" y="177403"/>
                  <a:pt x="361496" y="182404"/>
                </a:cubicBezTo>
                <a:cubicBezTo>
                  <a:pt x="318861" y="195739"/>
                  <a:pt x="262891" y="203200"/>
                  <a:pt x="203200" y="203200"/>
                </a:cubicBezTo>
                <a:cubicBezTo>
                  <a:pt x="143509" y="203200"/>
                  <a:pt x="87448" y="195660"/>
                  <a:pt x="44904" y="182404"/>
                </a:cubicBezTo>
                <a:cubicBezTo>
                  <a:pt x="28937" y="177403"/>
                  <a:pt x="13425" y="171132"/>
                  <a:pt x="0" y="163353"/>
                </a:cubicBezTo>
                <a:lnTo>
                  <a:pt x="0" y="228600"/>
                </a:lnTo>
                <a:cubicBezTo>
                  <a:pt x="0" y="263684"/>
                  <a:pt x="90987" y="292100"/>
                  <a:pt x="203200" y="292100"/>
                </a:cubicBezTo>
                <a:cubicBezTo>
                  <a:pt x="315413" y="292100"/>
                  <a:pt x="406400" y="263684"/>
                  <a:pt x="406400" y="228600"/>
                </a:cubicBezTo>
                <a:lnTo>
                  <a:pt x="406400" y="163353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3" y="0"/>
                  <a:pt x="203200" y="0"/>
                </a:cubicBezTo>
                <a:cubicBezTo>
                  <a:pt x="90987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7" y="165100"/>
                  <a:pt x="203200" y="165100"/>
                </a:cubicBezTo>
                <a:cubicBezTo>
                  <a:pt x="315413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2" y="322660"/>
                  <a:pt x="262981" y="330200"/>
                  <a:pt x="203200" y="330200"/>
                </a:cubicBezTo>
                <a:cubicBezTo>
                  <a:pt x="143419" y="330200"/>
                  <a:pt x="87448" y="322660"/>
                  <a:pt x="44904" y="309404"/>
                </a:cubicBezTo>
                <a:cubicBezTo>
                  <a:pt x="28937" y="304403"/>
                  <a:pt x="13425" y="298132"/>
                  <a:pt x="0" y="290353"/>
                </a:cubicBezTo>
                <a:lnTo>
                  <a:pt x="0" y="342900"/>
                </a:lnTo>
                <a:cubicBezTo>
                  <a:pt x="0" y="377984"/>
                  <a:pt x="90987" y="406400"/>
                  <a:pt x="203200" y="406400"/>
                </a:cubicBezTo>
                <a:cubicBezTo>
                  <a:pt x="315413" y="406400"/>
                  <a:pt x="406400" y="377984"/>
                  <a:pt x="406400" y="342900"/>
                </a:cubicBezTo>
                <a:lnTo>
                  <a:pt x="406400" y="290353"/>
                </a:lnTo>
                <a:cubicBezTo>
                  <a:pt x="392975" y="298132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6"/>
          <p:cNvSpPr/>
          <p:nvPr/>
        </p:nvSpPr>
        <p:spPr>
          <a:xfrm>
            <a:off x="6456671" y="885807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6"/>
          <p:cNvSpPr/>
          <p:nvPr/>
        </p:nvSpPr>
        <p:spPr>
          <a:xfrm>
            <a:off x="6405246" y="860090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Plus de Jeux de Données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6"/>
          <p:cNvSpPr/>
          <p:nvPr/>
        </p:nvSpPr>
        <p:spPr>
          <a:xfrm>
            <a:off x="6213849" y="1128730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6162424" y="1103013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Tester sur la suite GLUE complète (MRPC, QNLI, STS-B, MNLI) et IMDB pour valider la généralisation.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6"/>
          <p:cNvSpPr/>
          <p:nvPr/>
        </p:nvSpPr>
        <p:spPr>
          <a:xfrm>
            <a:off x="428541" y="2143125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6"/>
          <p:cNvSpPr/>
          <p:nvPr/>
        </p:nvSpPr>
        <p:spPr>
          <a:xfrm>
            <a:off x="571406" y="2257407"/>
            <a:ext cx="171417" cy="171450"/>
          </a:xfrm>
          <a:custGeom>
            <a:rect b="b" l="l" r="r" t="t"/>
            <a:pathLst>
              <a:path extrusionOk="0" h="406400" w="406400">
                <a:moveTo>
                  <a:pt x="184547" y="4128"/>
                </a:moveTo>
                <a:cubicBezTo>
                  <a:pt x="196373" y="-1349"/>
                  <a:pt x="210027" y="-1349"/>
                  <a:pt x="221853" y="4128"/>
                </a:cubicBezTo>
                <a:lnTo>
                  <a:pt x="395367" y="84296"/>
                </a:lnTo>
                <a:cubicBezTo>
                  <a:pt x="402113" y="87392"/>
                  <a:pt x="406400" y="94139"/>
                  <a:pt x="406400" y="101600"/>
                </a:cubicBezTo>
                <a:cubicBezTo>
                  <a:pt x="406400" y="109061"/>
                  <a:pt x="402113" y="115808"/>
                  <a:pt x="395367" y="118904"/>
                </a:cubicBezTo>
                <a:lnTo>
                  <a:pt x="221853" y="199072"/>
                </a:lnTo>
                <a:cubicBezTo>
                  <a:pt x="210027" y="204549"/>
                  <a:pt x="196373" y="204549"/>
                  <a:pt x="184547" y="199072"/>
                </a:cubicBezTo>
                <a:lnTo>
                  <a:pt x="11033" y="118904"/>
                </a:lnTo>
                <a:cubicBezTo>
                  <a:pt x="4287" y="115729"/>
                  <a:pt x="0" y="108981"/>
                  <a:pt x="0" y="101600"/>
                </a:cubicBezTo>
                <a:cubicBezTo>
                  <a:pt x="0" y="94219"/>
                  <a:pt x="4287" y="87392"/>
                  <a:pt x="11033" y="84296"/>
                </a:cubicBezTo>
                <a:lnTo>
                  <a:pt x="184547" y="4128"/>
                </a:lnTo>
                <a:close/>
                <a:moveTo>
                  <a:pt x="38180" y="173355"/>
                </a:moveTo>
                <a:lnTo>
                  <a:pt x="168592" y="233600"/>
                </a:lnTo>
                <a:cubicBezTo>
                  <a:pt x="190580" y="243760"/>
                  <a:pt x="215900" y="243760"/>
                  <a:pt x="237887" y="233600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3" y="188992"/>
                  <a:pt x="406400" y="195739"/>
                  <a:pt x="406400" y="203200"/>
                </a:cubicBezTo>
                <a:cubicBezTo>
                  <a:pt x="406400" y="210661"/>
                  <a:pt x="402113" y="217408"/>
                  <a:pt x="395367" y="220504"/>
                </a:cubicBezTo>
                <a:lnTo>
                  <a:pt x="221853" y="300672"/>
                </a:lnTo>
                <a:cubicBezTo>
                  <a:pt x="210027" y="306149"/>
                  <a:pt x="196373" y="306149"/>
                  <a:pt x="184547" y="300672"/>
                </a:cubicBezTo>
                <a:lnTo>
                  <a:pt x="11033" y="220504"/>
                </a:lnTo>
                <a:cubicBezTo>
                  <a:pt x="4287" y="217329"/>
                  <a:pt x="0" y="210581"/>
                  <a:pt x="0" y="203200"/>
                </a:cubicBezTo>
                <a:cubicBezTo>
                  <a:pt x="0" y="195819"/>
                  <a:pt x="4287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0"/>
                </a:lnTo>
                <a:cubicBezTo>
                  <a:pt x="190500" y="345360"/>
                  <a:pt x="215820" y="345360"/>
                  <a:pt x="237808" y="335200"/>
                </a:cubicBezTo>
                <a:lnTo>
                  <a:pt x="368220" y="274955"/>
                </a:lnTo>
                <a:lnTo>
                  <a:pt x="395288" y="287496"/>
                </a:lnTo>
                <a:cubicBezTo>
                  <a:pt x="402035" y="290592"/>
                  <a:pt x="406320" y="297339"/>
                  <a:pt x="406320" y="304800"/>
                </a:cubicBezTo>
                <a:cubicBezTo>
                  <a:pt x="406320" y="312261"/>
                  <a:pt x="402035" y="319008"/>
                  <a:pt x="395288" y="322104"/>
                </a:cubicBezTo>
                <a:lnTo>
                  <a:pt x="221773" y="402272"/>
                </a:lnTo>
                <a:cubicBezTo>
                  <a:pt x="209947" y="407749"/>
                  <a:pt x="196295" y="407749"/>
                  <a:pt x="184468" y="402272"/>
                </a:cubicBezTo>
                <a:lnTo>
                  <a:pt x="11033" y="322104"/>
                </a:lnTo>
                <a:cubicBezTo>
                  <a:pt x="4287" y="318929"/>
                  <a:pt x="0" y="312181"/>
                  <a:pt x="0" y="304800"/>
                </a:cubicBezTo>
                <a:cubicBezTo>
                  <a:pt x="0" y="297419"/>
                  <a:pt x="4287" y="290592"/>
                  <a:pt x="11033" y="287496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6"/>
          <p:cNvSpPr/>
          <p:nvPr/>
        </p:nvSpPr>
        <p:spPr>
          <a:xfrm>
            <a:off x="814228" y="2243155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6"/>
          <p:cNvSpPr/>
          <p:nvPr/>
        </p:nvSpPr>
        <p:spPr>
          <a:xfrm>
            <a:off x="762804" y="2217438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Étude de Taille de Batch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6"/>
          <p:cNvSpPr/>
          <p:nvPr/>
        </p:nvSpPr>
        <p:spPr>
          <a:xfrm>
            <a:off x="571406" y="2486025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6"/>
          <p:cNvSpPr/>
          <p:nvPr/>
        </p:nvSpPr>
        <p:spPr>
          <a:xfrm>
            <a:off x="519981" y="2460308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systématique de comment la taille de batch (16 → 1024+) affecte la performance relative de LAMB vs AdamW.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6"/>
          <p:cNvSpPr/>
          <p:nvPr/>
        </p:nvSpPr>
        <p:spPr>
          <a:xfrm>
            <a:off x="3249789" y="2143125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6"/>
          <p:cNvSpPr/>
          <p:nvPr/>
        </p:nvSpPr>
        <p:spPr>
          <a:xfrm>
            <a:off x="3392601" y="2257407"/>
            <a:ext cx="171417" cy="171450"/>
          </a:xfrm>
          <a:custGeom>
            <a:rect b="b" l="l" r="r" t="t"/>
            <a:pathLst>
              <a:path extrusionOk="0" h="406400" w="406400">
                <a:moveTo>
                  <a:pt x="72572" y="82549"/>
                </a:moveTo>
                <a:cubicBezTo>
                  <a:pt x="84588" y="82549"/>
                  <a:pt x="94343" y="74013"/>
                  <a:pt x="94343" y="63500"/>
                </a:cubicBezTo>
                <a:cubicBezTo>
                  <a:pt x="94343" y="52987"/>
                  <a:pt x="84588" y="44451"/>
                  <a:pt x="72572" y="44451"/>
                </a:cubicBezTo>
                <a:cubicBezTo>
                  <a:pt x="60556" y="44451"/>
                  <a:pt x="50800" y="52987"/>
                  <a:pt x="50800" y="63500"/>
                </a:cubicBezTo>
                <a:cubicBezTo>
                  <a:pt x="50800" y="74013"/>
                  <a:pt x="60556" y="82549"/>
                  <a:pt x="72572" y="82549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1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5"/>
                  <a:pt x="304800" y="139700"/>
                </a:cubicBezTo>
                <a:lnTo>
                  <a:pt x="304800" y="121681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8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1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9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2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9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2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7"/>
                  <a:pt x="345844" y="44451"/>
                  <a:pt x="333828" y="44451"/>
                </a:cubicBezTo>
                <a:cubicBezTo>
                  <a:pt x="321812" y="44451"/>
                  <a:pt x="312057" y="52987"/>
                  <a:pt x="312057" y="63500"/>
                </a:cubicBezTo>
                <a:cubicBezTo>
                  <a:pt x="312057" y="74013"/>
                  <a:pt x="321812" y="82549"/>
                  <a:pt x="333828" y="82549"/>
                </a:cubicBezTo>
                <a:cubicBezTo>
                  <a:pt x="345844" y="82549"/>
                  <a:pt x="355600" y="74013"/>
                  <a:pt x="355600" y="63500"/>
                </a:cubicBezTo>
                <a:close/>
                <a:moveTo>
                  <a:pt x="72572" y="361951"/>
                </a:moveTo>
                <a:cubicBezTo>
                  <a:pt x="84588" y="361951"/>
                  <a:pt x="94343" y="353413"/>
                  <a:pt x="94343" y="342900"/>
                </a:cubicBezTo>
                <a:cubicBezTo>
                  <a:pt x="94343" y="332387"/>
                  <a:pt x="84588" y="323851"/>
                  <a:pt x="72572" y="323851"/>
                </a:cubicBezTo>
                <a:cubicBezTo>
                  <a:pt x="60556" y="323851"/>
                  <a:pt x="50800" y="332387"/>
                  <a:pt x="50800" y="342900"/>
                </a:cubicBezTo>
                <a:cubicBezTo>
                  <a:pt x="50800" y="353413"/>
                  <a:pt x="60556" y="361951"/>
                  <a:pt x="72572" y="361951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6"/>
          <p:cNvSpPr/>
          <p:nvPr/>
        </p:nvSpPr>
        <p:spPr>
          <a:xfrm>
            <a:off x="3635477" y="2243155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6"/>
          <p:cNvSpPr/>
          <p:nvPr/>
        </p:nvSpPr>
        <p:spPr>
          <a:xfrm>
            <a:off x="3584052" y="2217438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Décroissance LR par Couche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6"/>
          <p:cNvSpPr/>
          <p:nvPr/>
        </p:nvSpPr>
        <p:spPr>
          <a:xfrm>
            <a:off x="3392601" y="2486025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6"/>
          <p:cNvSpPr/>
          <p:nvPr/>
        </p:nvSpPr>
        <p:spPr>
          <a:xfrm>
            <a:off x="3341176" y="2460308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Combiner des taux d'apprentissage spécifiques par couche avec chaque optimiseur pour potentiellement augmenter la performance au-delà des baselines.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6"/>
          <p:cNvSpPr/>
          <p:nvPr/>
        </p:nvSpPr>
        <p:spPr>
          <a:xfrm>
            <a:off x="6070984" y="2143125"/>
            <a:ext cx="264265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6"/>
          <p:cNvSpPr/>
          <p:nvPr/>
        </p:nvSpPr>
        <p:spPr>
          <a:xfrm>
            <a:off x="6213849" y="2257407"/>
            <a:ext cx="171417" cy="171450"/>
          </a:xfrm>
          <a:custGeom>
            <a:rect b="b" l="l" r="r" t="t"/>
            <a:pathLst>
              <a:path extrusionOk="0" h="406400" w="406400">
                <a:moveTo>
                  <a:pt x="203200" y="50800"/>
                </a:moveTo>
                <a:cubicBezTo>
                  <a:pt x="277989" y="50800"/>
                  <a:pt x="338667" y="119063"/>
                  <a:pt x="338667" y="203200"/>
                </a:cubicBezTo>
                <a:cubicBezTo>
                  <a:pt x="338667" y="287337"/>
                  <a:pt x="277989" y="355600"/>
                  <a:pt x="203200" y="355600"/>
                </a:cubicBezTo>
                <a:cubicBezTo>
                  <a:pt x="157197" y="355600"/>
                  <a:pt x="116487" y="329803"/>
                  <a:pt x="92004" y="290275"/>
                </a:cubicBezTo>
                <a:cubicBezTo>
                  <a:pt x="84879" y="278765"/>
                  <a:pt x="70767" y="275987"/>
                  <a:pt x="60537" y="284004"/>
                </a:cubicBezTo>
                <a:cubicBezTo>
                  <a:pt x="50307" y="292020"/>
                  <a:pt x="47837" y="307896"/>
                  <a:pt x="54963" y="319405"/>
                </a:cubicBezTo>
                <a:cubicBezTo>
                  <a:pt x="87560" y="371951"/>
                  <a:pt x="141816" y="406400"/>
                  <a:pt x="203200" y="406400"/>
                </a:cubicBezTo>
                <a:cubicBezTo>
                  <a:pt x="302965" y="406400"/>
                  <a:pt x="383823" y="315436"/>
                  <a:pt x="383823" y="203200"/>
                </a:cubicBezTo>
                <a:cubicBezTo>
                  <a:pt x="383823" y="90964"/>
                  <a:pt x="302965" y="0"/>
                  <a:pt x="203200" y="0"/>
                </a:cubicBezTo>
                <a:cubicBezTo>
                  <a:pt x="142733" y="0"/>
                  <a:pt x="89253" y="33417"/>
                  <a:pt x="56444" y="84693"/>
                </a:cubicBezTo>
                <a:lnTo>
                  <a:pt x="56444" y="63500"/>
                </a:lnTo>
                <a:cubicBezTo>
                  <a:pt x="56444" y="49451"/>
                  <a:pt x="46355" y="38100"/>
                  <a:pt x="33867" y="38100"/>
                </a:cubicBezTo>
                <a:cubicBezTo>
                  <a:pt x="21379" y="38100"/>
                  <a:pt x="11289" y="49451"/>
                  <a:pt x="11289" y="63500"/>
                </a:cubicBezTo>
                <a:lnTo>
                  <a:pt x="11289" y="152400"/>
                </a:lnTo>
                <a:cubicBezTo>
                  <a:pt x="11289" y="166449"/>
                  <a:pt x="21379" y="177800"/>
                  <a:pt x="33867" y="177800"/>
                </a:cubicBezTo>
                <a:lnTo>
                  <a:pt x="51224" y="177800"/>
                </a:lnTo>
                <a:cubicBezTo>
                  <a:pt x="51576" y="177800"/>
                  <a:pt x="51929" y="177800"/>
                  <a:pt x="52281" y="177800"/>
                </a:cubicBezTo>
                <a:lnTo>
                  <a:pt x="112960" y="177800"/>
                </a:lnTo>
                <a:cubicBezTo>
                  <a:pt x="125448" y="177800"/>
                  <a:pt x="135537" y="166449"/>
                  <a:pt x="135537" y="152400"/>
                </a:cubicBezTo>
                <a:cubicBezTo>
                  <a:pt x="135537" y="138351"/>
                  <a:pt x="125448" y="127000"/>
                  <a:pt x="112960" y="127000"/>
                </a:cubicBezTo>
                <a:lnTo>
                  <a:pt x="85937" y="127000"/>
                </a:lnTo>
                <a:cubicBezTo>
                  <a:pt x="109291" y="81439"/>
                  <a:pt x="153105" y="50800"/>
                  <a:pt x="203200" y="50800"/>
                </a:cubicBezTo>
                <a:close/>
                <a:moveTo>
                  <a:pt x="220133" y="120651"/>
                </a:moveTo>
                <a:cubicBezTo>
                  <a:pt x="220133" y="110093"/>
                  <a:pt x="212584" y="101600"/>
                  <a:pt x="203200" y="101600"/>
                </a:cubicBezTo>
                <a:cubicBezTo>
                  <a:pt x="193816" y="101600"/>
                  <a:pt x="186267" y="110093"/>
                  <a:pt x="186267" y="120651"/>
                </a:cubicBezTo>
                <a:lnTo>
                  <a:pt x="186267" y="203200"/>
                </a:lnTo>
                <a:cubicBezTo>
                  <a:pt x="186267" y="208280"/>
                  <a:pt x="188031" y="213121"/>
                  <a:pt x="191205" y="216693"/>
                </a:cubicBezTo>
                <a:lnTo>
                  <a:pt x="242005" y="273844"/>
                </a:lnTo>
                <a:cubicBezTo>
                  <a:pt x="248637" y="281305"/>
                  <a:pt x="259363" y="281305"/>
                  <a:pt x="265924" y="273844"/>
                </a:cubicBezTo>
                <a:cubicBezTo>
                  <a:pt x="272485" y="266383"/>
                  <a:pt x="272556" y="254317"/>
                  <a:pt x="265924" y="246936"/>
                </a:cubicBezTo>
                <a:lnTo>
                  <a:pt x="220063" y="195341"/>
                </a:lnTo>
                <a:lnTo>
                  <a:pt x="220063" y="120651"/>
                </a:ln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6"/>
          <p:cNvSpPr/>
          <p:nvPr/>
        </p:nvSpPr>
        <p:spPr>
          <a:xfrm>
            <a:off x="6456671" y="2243155"/>
            <a:ext cx="214270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6"/>
          <p:cNvSpPr/>
          <p:nvPr/>
        </p:nvSpPr>
        <p:spPr>
          <a:xfrm>
            <a:off x="6405246" y="2217438"/>
            <a:ext cx="2245556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par Époque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6"/>
          <p:cNvSpPr/>
          <p:nvPr/>
        </p:nvSpPr>
        <p:spPr>
          <a:xfrm>
            <a:off x="6213849" y="2486025"/>
            <a:ext cx="2385529" cy="78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6"/>
          <p:cNvSpPr/>
          <p:nvPr/>
        </p:nvSpPr>
        <p:spPr>
          <a:xfrm>
            <a:off x="6162424" y="2460308"/>
            <a:ext cx="2488379" cy="8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Entraîner pendant 3–5 époques pour vérifier si AdaFactor et LAMB réduisent l'écart avec AdamW avec plus de temps d'entraînement.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6"/>
          <p:cNvSpPr/>
          <p:nvPr/>
        </p:nvSpPr>
        <p:spPr>
          <a:xfrm>
            <a:off x="428541" y="3571893"/>
            <a:ext cx="8285150" cy="357205"/>
          </a:xfrm>
          <a:prstGeom prst="roundRect">
            <a:avLst>
              <a:gd fmla="val 6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6"/>
          <p:cNvSpPr/>
          <p:nvPr/>
        </p:nvSpPr>
        <p:spPr>
          <a:xfrm>
            <a:off x="571406" y="3571893"/>
            <a:ext cx="7999420" cy="35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6"/>
          <p:cNvSpPr/>
          <p:nvPr/>
        </p:nvSpPr>
        <p:spPr>
          <a:xfrm>
            <a:off x="519981" y="3546175"/>
            <a:ext cx="8102270" cy="40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 :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Toutes les directions de travaux futurs visent à valider si la domination d'AdamW persiste à travers des conditions expérimentales plus larges — ou si des optimiseurs alternatifs peuvent réduire l'écart sous des configurations spécifiques.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6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6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6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6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7"/>
          <p:cNvSpPr/>
          <p:nvPr/>
        </p:nvSpPr>
        <p:spPr>
          <a:xfrm>
            <a:off x="0" y="0"/>
            <a:ext cx="9142232" cy="31434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7"/>
          <p:cNvSpPr/>
          <p:nvPr/>
        </p:nvSpPr>
        <p:spPr>
          <a:xfrm>
            <a:off x="7385213" y="42863"/>
            <a:ext cx="1614154" cy="228618"/>
          </a:xfrm>
          <a:prstGeom prst="roundRect">
            <a:avLst>
              <a:gd fmla="val 16000" name="adj"/>
            </a:avLst>
          </a:prstGeom>
          <a:solidFill>
            <a:srgbClr val="FFFFFF">
              <a:alpha val="3529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7"/>
          <p:cNvSpPr/>
          <p:nvPr/>
        </p:nvSpPr>
        <p:spPr>
          <a:xfrm>
            <a:off x="0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7"/>
          <p:cNvSpPr/>
          <p:nvPr/>
        </p:nvSpPr>
        <p:spPr>
          <a:xfrm>
            <a:off x="-51425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Contexte &amp; Arrière-plan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7"/>
          <p:cNvSpPr/>
          <p:nvPr/>
        </p:nvSpPr>
        <p:spPr>
          <a:xfrm>
            <a:off x="1828425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7"/>
          <p:cNvSpPr/>
          <p:nvPr/>
        </p:nvSpPr>
        <p:spPr>
          <a:xfrm>
            <a:off x="1777000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BERT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7"/>
          <p:cNvSpPr/>
          <p:nvPr/>
        </p:nvSpPr>
        <p:spPr>
          <a:xfrm>
            <a:off x="365690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7"/>
          <p:cNvSpPr/>
          <p:nvPr/>
        </p:nvSpPr>
        <p:spPr>
          <a:xfrm>
            <a:off x="360547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Résultats GPT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7"/>
          <p:cNvSpPr/>
          <p:nvPr/>
        </p:nvSpPr>
        <p:spPr>
          <a:xfrm>
            <a:off x="5485329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7"/>
          <p:cNvSpPr/>
          <p:nvPr/>
        </p:nvSpPr>
        <p:spPr>
          <a:xfrm>
            <a:off x="5433904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Analyse Comparative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7"/>
          <p:cNvSpPr/>
          <p:nvPr/>
        </p:nvSpPr>
        <p:spPr>
          <a:xfrm>
            <a:off x="7313754" y="0"/>
            <a:ext cx="1828425" cy="31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7"/>
          <p:cNvSpPr/>
          <p:nvPr/>
        </p:nvSpPr>
        <p:spPr>
          <a:xfrm>
            <a:off x="7262329" y="-25717"/>
            <a:ext cx="1931275" cy="36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7"/>
          <p:cNvSpPr/>
          <p:nvPr/>
        </p:nvSpPr>
        <p:spPr>
          <a:xfrm>
            <a:off x="428541" y="428625"/>
            <a:ext cx="28552" cy="200007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7"/>
          <p:cNvSpPr/>
          <p:nvPr/>
        </p:nvSpPr>
        <p:spPr>
          <a:xfrm>
            <a:off x="542801" y="400068"/>
            <a:ext cx="35711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7"/>
          <p:cNvSpPr/>
          <p:nvPr/>
        </p:nvSpPr>
        <p:spPr>
          <a:xfrm>
            <a:off x="491376" y="374350"/>
            <a:ext cx="367404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7"/>
          <p:cNvSpPr/>
          <p:nvPr/>
        </p:nvSpPr>
        <p:spPr>
          <a:xfrm>
            <a:off x="428541" y="771525"/>
            <a:ext cx="403541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7"/>
          <p:cNvSpPr/>
          <p:nvPr/>
        </p:nvSpPr>
        <p:spPr>
          <a:xfrm>
            <a:off x="571406" y="871555"/>
            <a:ext cx="199968" cy="200007"/>
          </a:xfrm>
          <a:custGeom>
            <a:rect b="b" l="l" r="r" t="t"/>
            <a:pathLst>
              <a:path extrusionOk="0" h="474091" w="474091">
                <a:moveTo>
                  <a:pt x="133616" y="0"/>
                </a:moveTo>
                <a:lnTo>
                  <a:pt x="341031" y="0"/>
                </a:lnTo>
                <a:cubicBezTo>
                  <a:pt x="365569" y="0"/>
                  <a:pt x="385570" y="20186"/>
                  <a:pt x="384643" y="44631"/>
                </a:cubicBezTo>
                <a:cubicBezTo>
                  <a:pt x="384458" y="49538"/>
                  <a:pt x="384272" y="54446"/>
                  <a:pt x="383995" y="59261"/>
                </a:cubicBezTo>
                <a:lnTo>
                  <a:pt x="429923" y="59261"/>
                </a:lnTo>
                <a:cubicBezTo>
                  <a:pt x="454090" y="59261"/>
                  <a:pt x="475387" y="79262"/>
                  <a:pt x="473535" y="105375"/>
                </a:cubicBezTo>
                <a:cubicBezTo>
                  <a:pt x="466590" y="201397"/>
                  <a:pt x="417515" y="254176"/>
                  <a:pt x="364273" y="281770"/>
                </a:cubicBezTo>
                <a:cubicBezTo>
                  <a:pt x="349642" y="289362"/>
                  <a:pt x="334734" y="295011"/>
                  <a:pt x="320567" y="299177"/>
                </a:cubicBezTo>
                <a:cubicBezTo>
                  <a:pt x="301862" y="325660"/>
                  <a:pt x="282417" y="339642"/>
                  <a:pt x="266953" y="347142"/>
                </a:cubicBezTo>
                <a:lnTo>
                  <a:pt x="266953" y="414830"/>
                </a:lnTo>
                <a:lnTo>
                  <a:pt x="326215" y="414830"/>
                </a:lnTo>
                <a:cubicBezTo>
                  <a:pt x="342605" y="414830"/>
                  <a:pt x="355846" y="428071"/>
                  <a:pt x="355846" y="444460"/>
                </a:cubicBezTo>
                <a:cubicBezTo>
                  <a:pt x="355846" y="460850"/>
                  <a:pt x="342605" y="474091"/>
                  <a:pt x="326215" y="474091"/>
                </a:cubicBezTo>
                <a:lnTo>
                  <a:pt x="148431" y="474091"/>
                </a:lnTo>
                <a:cubicBezTo>
                  <a:pt x="132042" y="474091"/>
                  <a:pt x="118800" y="460850"/>
                  <a:pt x="118800" y="444460"/>
                </a:cubicBezTo>
                <a:cubicBezTo>
                  <a:pt x="118800" y="428071"/>
                  <a:pt x="132042" y="414830"/>
                  <a:pt x="148431" y="414830"/>
                </a:cubicBezTo>
                <a:lnTo>
                  <a:pt x="207692" y="414830"/>
                </a:lnTo>
                <a:lnTo>
                  <a:pt x="207692" y="347142"/>
                </a:lnTo>
                <a:cubicBezTo>
                  <a:pt x="192877" y="340012"/>
                  <a:pt x="174451" y="326771"/>
                  <a:pt x="156487" y="302418"/>
                </a:cubicBezTo>
                <a:cubicBezTo>
                  <a:pt x="139449" y="297973"/>
                  <a:pt x="120931" y="291214"/>
                  <a:pt x="102873" y="281028"/>
                </a:cubicBezTo>
                <a:cubicBezTo>
                  <a:pt x="52779" y="252972"/>
                  <a:pt x="7593" y="200099"/>
                  <a:pt x="1111" y="105189"/>
                </a:cubicBezTo>
                <a:cubicBezTo>
                  <a:pt x="-648" y="79169"/>
                  <a:pt x="20557" y="59169"/>
                  <a:pt x="44724" y="59169"/>
                </a:cubicBezTo>
                <a:lnTo>
                  <a:pt x="90652" y="59169"/>
                </a:lnTo>
                <a:cubicBezTo>
                  <a:pt x="90373" y="54354"/>
                  <a:pt x="90188" y="49538"/>
                  <a:pt x="90003" y="44539"/>
                </a:cubicBezTo>
                <a:cubicBezTo>
                  <a:pt x="89077" y="20001"/>
                  <a:pt x="109078" y="-92"/>
                  <a:pt x="133616" y="-92"/>
                </a:cubicBezTo>
                <a:close/>
                <a:moveTo>
                  <a:pt x="93985" y="103708"/>
                </a:moveTo>
                <a:lnTo>
                  <a:pt x="45464" y="103708"/>
                </a:lnTo>
                <a:cubicBezTo>
                  <a:pt x="51206" y="182136"/>
                  <a:pt x="87226" y="221396"/>
                  <a:pt x="124357" y="242230"/>
                </a:cubicBezTo>
                <a:cubicBezTo>
                  <a:pt x="111022" y="207692"/>
                  <a:pt x="100003" y="162599"/>
                  <a:pt x="93985" y="103708"/>
                </a:cubicBezTo>
                <a:close/>
                <a:moveTo>
                  <a:pt x="351865" y="237787"/>
                </a:moveTo>
                <a:cubicBezTo>
                  <a:pt x="389365" y="215749"/>
                  <a:pt x="423256" y="176580"/>
                  <a:pt x="428996" y="103708"/>
                </a:cubicBezTo>
                <a:lnTo>
                  <a:pt x="380569" y="103708"/>
                </a:lnTo>
                <a:cubicBezTo>
                  <a:pt x="374828" y="160098"/>
                  <a:pt x="364458" y="203896"/>
                  <a:pt x="351865" y="237787"/>
                </a:cubicBezTo>
                <a:close/>
              </a:path>
            </a:pathLst>
          </a:cu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7"/>
          <p:cNvSpPr/>
          <p:nvPr/>
        </p:nvSpPr>
        <p:spPr>
          <a:xfrm>
            <a:off x="842780" y="857250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7"/>
          <p:cNvSpPr/>
          <p:nvPr/>
        </p:nvSpPr>
        <p:spPr>
          <a:xfrm>
            <a:off x="791355" y="831533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AdamW — Étalon-Or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7"/>
          <p:cNvSpPr/>
          <p:nvPr/>
        </p:nvSpPr>
        <p:spPr>
          <a:xfrm>
            <a:off x="571406" y="1142982"/>
            <a:ext cx="3749736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7"/>
          <p:cNvSpPr/>
          <p:nvPr/>
        </p:nvSpPr>
        <p:spPr>
          <a:xfrm>
            <a:off x="519981" y="1117265"/>
            <a:ext cx="3852586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Meilleur optimiseur :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92,89%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(BERT) ·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89,56%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(GPT). Stable, rapide, et fiable. Le choix incontesté pour le fine-tuning de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7"/>
          <p:cNvSpPr/>
          <p:nvPr/>
        </p:nvSpPr>
        <p:spPr>
          <a:xfrm>
            <a:off x="4678225" y="771525"/>
            <a:ext cx="403541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5B8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7"/>
          <p:cNvSpPr/>
          <p:nvPr/>
        </p:nvSpPr>
        <p:spPr>
          <a:xfrm>
            <a:off x="4821090" y="871555"/>
            <a:ext cx="199968" cy="200007"/>
          </a:xfrm>
          <a:custGeom>
            <a:rect b="b" l="l" r="r" t="t"/>
            <a:pathLst>
              <a:path extrusionOk="0" h="474091" w="474091">
                <a:moveTo>
                  <a:pt x="59261" y="59261"/>
                </a:moveTo>
                <a:cubicBezTo>
                  <a:pt x="26575" y="59261"/>
                  <a:pt x="0" y="85836"/>
                  <a:pt x="0" y="118523"/>
                </a:cubicBezTo>
                <a:lnTo>
                  <a:pt x="0" y="125375"/>
                </a:lnTo>
                <a:cubicBezTo>
                  <a:pt x="0" y="131671"/>
                  <a:pt x="4074" y="137042"/>
                  <a:pt x="9352" y="140467"/>
                </a:cubicBezTo>
                <a:cubicBezTo>
                  <a:pt x="21575" y="148431"/>
                  <a:pt x="29631" y="162135"/>
                  <a:pt x="29631" y="177784"/>
                </a:cubicBezTo>
                <a:cubicBezTo>
                  <a:pt x="29631" y="193433"/>
                  <a:pt x="21575" y="207138"/>
                  <a:pt x="9352" y="215101"/>
                </a:cubicBezTo>
                <a:cubicBezTo>
                  <a:pt x="4074" y="218526"/>
                  <a:pt x="0" y="223897"/>
                  <a:pt x="0" y="230193"/>
                </a:cubicBezTo>
                <a:lnTo>
                  <a:pt x="0" y="281492"/>
                </a:lnTo>
                <a:lnTo>
                  <a:pt x="474091" y="281492"/>
                </a:lnTo>
                <a:lnTo>
                  <a:pt x="474091" y="230193"/>
                </a:lnTo>
                <a:cubicBezTo>
                  <a:pt x="474091" y="223897"/>
                  <a:pt x="470017" y="218526"/>
                  <a:pt x="464739" y="215101"/>
                </a:cubicBezTo>
                <a:cubicBezTo>
                  <a:pt x="452516" y="207138"/>
                  <a:pt x="444460" y="193433"/>
                  <a:pt x="444460" y="177784"/>
                </a:cubicBezTo>
                <a:cubicBezTo>
                  <a:pt x="444460" y="162135"/>
                  <a:pt x="452516" y="148431"/>
                  <a:pt x="464739" y="140467"/>
                </a:cubicBezTo>
                <a:cubicBezTo>
                  <a:pt x="470017" y="137042"/>
                  <a:pt x="474091" y="131671"/>
                  <a:pt x="474091" y="125375"/>
                </a:cubicBezTo>
                <a:lnTo>
                  <a:pt x="474091" y="118523"/>
                </a:lnTo>
                <a:cubicBezTo>
                  <a:pt x="474091" y="85836"/>
                  <a:pt x="447516" y="59261"/>
                  <a:pt x="414830" y="59261"/>
                </a:cubicBezTo>
                <a:lnTo>
                  <a:pt x="59261" y="59261"/>
                </a:lnTo>
                <a:close/>
                <a:moveTo>
                  <a:pt x="474091" y="385199"/>
                </a:moveTo>
                <a:lnTo>
                  <a:pt x="474091" y="325938"/>
                </a:lnTo>
                <a:lnTo>
                  <a:pt x="0" y="325938"/>
                </a:lnTo>
                <a:lnTo>
                  <a:pt x="0" y="385199"/>
                </a:lnTo>
                <a:cubicBezTo>
                  <a:pt x="0" y="401588"/>
                  <a:pt x="13241" y="414830"/>
                  <a:pt x="29631" y="414830"/>
                </a:cubicBezTo>
                <a:lnTo>
                  <a:pt x="88892" y="414830"/>
                </a:lnTo>
                <a:lnTo>
                  <a:pt x="88892" y="392606"/>
                </a:lnTo>
                <a:cubicBezTo>
                  <a:pt x="88892" y="380291"/>
                  <a:pt x="98799" y="370384"/>
                  <a:pt x="111115" y="370384"/>
                </a:cubicBezTo>
                <a:cubicBezTo>
                  <a:pt x="123430" y="370384"/>
                  <a:pt x="133339" y="380291"/>
                  <a:pt x="133339" y="392606"/>
                </a:cubicBezTo>
                <a:lnTo>
                  <a:pt x="133339" y="414830"/>
                </a:lnTo>
                <a:lnTo>
                  <a:pt x="214822" y="414830"/>
                </a:lnTo>
                <a:lnTo>
                  <a:pt x="214822" y="392606"/>
                </a:lnTo>
                <a:cubicBezTo>
                  <a:pt x="214822" y="380291"/>
                  <a:pt x="224731" y="370384"/>
                  <a:pt x="237046" y="370384"/>
                </a:cubicBezTo>
                <a:cubicBezTo>
                  <a:pt x="249360" y="370384"/>
                  <a:pt x="259269" y="380291"/>
                  <a:pt x="259269" y="392606"/>
                </a:cubicBezTo>
                <a:lnTo>
                  <a:pt x="259269" y="414830"/>
                </a:lnTo>
                <a:lnTo>
                  <a:pt x="340752" y="414830"/>
                </a:lnTo>
                <a:lnTo>
                  <a:pt x="340752" y="392606"/>
                </a:lnTo>
                <a:cubicBezTo>
                  <a:pt x="340752" y="380291"/>
                  <a:pt x="350661" y="370384"/>
                  <a:pt x="362976" y="370384"/>
                </a:cubicBezTo>
                <a:cubicBezTo>
                  <a:pt x="375292" y="370384"/>
                  <a:pt x="385199" y="380291"/>
                  <a:pt x="385199" y="392606"/>
                </a:cubicBezTo>
                <a:lnTo>
                  <a:pt x="385199" y="414830"/>
                </a:lnTo>
                <a:lnTo>
                  <a:pt x="444460" y="414830"/>
                </a:lnTo>
                <a:cubicBezTo>
                  <a:pt x="460850" y="414830"/>
                  <a:pt x="474091" y="401588"/>
                  <a:pt x="474091" y="385199"/>
                </a:cubicBezTo>
                <a:close/>
                <a:moveTo>
                  <a:pt x="148153" y="148153"/>
                </a:moveTo>
                <a:lnTo>
                  <a:pt x="148153" y="207415"/>
                </a:lnTo>
                <a:cubicBezTo>
                  <a:pt x="148153" y="223804"/>
                  <a:pt x="134912" y="237046"/>
                  <a:pt x="118523" y="237046"/>
                </a:cubicBezTo>
                <a:cubicBezTo>
                  <a:pt x="102134" y="237046"/>
                  <a:pt x="88892" y="223804"/>
                  <a:pt x="88892" y="207415"/>
                </a:cubicBezTo>
                <a:lnTo>
                  <a:pt x="88892" y="148153"/>
                </a:lnTo>
                <a:cubicBezTo>
                  <a:pt x="88892" y="131764"/>
                  <a:pt x="102134" y="118523"/>
                  <a:pt x="118523" y="118523"/>
                </a:cubicBezTo>
                <a:cubicBezTo>
                  <a:pt x="134912" y="118523"/>
                  <a:pt x="148153" y="131764"/>
                  <a:pt x="148153" y="148153"/>
                </a:cubicBezTo>
                <a:close/>
                <a:moveTo>
                  <a:pt x="266676" y="148153"/>
                </a:moveTo>
                <a:lnTo>
                  <a:pt x="266676" y="207415"/>
                </a:lnTo>
                <a:cubicBezTo>
                  <a:pt x="266676" y="223804"/>
                  <a:pt x="253435" y="237046"/>
                  <a:pt x="237046" y="237046"/>
                </a:cubicBezTo>
                <a:cubicBezTo>
                  <a:pt x="220656" y="237046"/>
                  <a:pt x="207415" y="223804"/>
                  <a:pt x="207415" y="207415"/>
                </a:cubicBezTo>
                <a:lnTo>
                  <a:pt x="207415" y="148153"/>
                </a:lnTo>
                <a:cubicBezTo>
                  <a:pt x="207415" y="131764"/>
                  <a:pt x="220656" y="118523"/>
                  <a:pt x="237046" y="118523"/>
                </a:cubicBezTo>
                <a:cubicBezTo>
                  <a:pt x="253435" y="118523"/>
                  <a:pt x="266676" y="131764"/>
                  <a:pt x="266676" y="148153"/>
                </a:cubicBezTo>
                <a:close/>
                <a:moveTo>
                  <a:pt x="385199" y="148153"/>
                </a:moveTo>
                <a:lnTo>
                  <a:pt x="385199" y="207415"/>
                </a:lnTo>
                <a:cubicBezTo>
                  <a:pt x="385199" y="223804"/>
                  <a:pt x="371957" y="237046"/>
                  <a:pt x="355568" y="237046"/>
                </a:cubicBezTo>
                <a:cubicBezTo>
                  <a:pt x="339179" y="237046"/>
                  <a:pt x="325938" y="223804"/>
                  <a:pt x="325938" y="207415"/>
                </a:cubicBezTo>
                <a:lnTo>
                  <a:pt x="325938" y="148153"/>
                </a:lnTo>
                <a:cubicBezTo>
                  <a:pt x="325938" y="131764"/>
                  <a:pt x="339179" y="118523"/>
                  <a:pt x="355568" y="118523"/>
                </a:cubicBezTo>
                <a:cubicBezTo>
                  <a:pt x="371957" y="118523"/>
                  <a:pt x="385199" y="131764"/>
                  <a:pt x="385199" y="148153"/>
                </a:cubicBezTo>
                <a:close/>
              </a:path>
            </a:pathLst>
          </a:custGeom>
          <a:solidFill>
            <a:srgbClr val="5B8C5A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7"/>
          <p:cNvSpPr/>
          <p:nvPr/>
        </p:nvSpPr>
        <p:spPr>
          <a:xfrm>
            <a:off x="5092517" y="857250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7"/>
          <p:cNvSpPr/>
          <p:nvPr/>
        </p:nvSpPr>
        <p:spPr>
          <a:xfrm>
            <a:off x="5041092" y="831533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5B8C5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 — Meilleur Compromis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7"/>
          <p:cNvSpPr/>
          <p:nvPr/>
        </p:nvSpPr>
        <p:spPr>
          <a:xfrm>
            <a:off x="4821090" y="1142982"/>
            <a:ext cx="3749736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7"/>
          <p:cNvSpPr/>
          <p:nvPr/>
        </p:nvSpPr>
        <p:spPr>
          <a:xfrm>
            <a:off x="4769665" y="1117265"/>
            <a:ext cx="3852586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90,25%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sur BERT avec seulement 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1,5 Go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mémoire crête — idéal pour les environnements à ressources limitées où la mémoire GPU est contrainte.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7"/>
          <p:cNvSpPr/>
          <p:nvPr/>
        </p:nvSpPr>
        <p:spPr>
          <a:xfrm>
            <a:off x="428541" y="2114568"/>
            <a:ext cx="4035413" cy="121445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4A7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7"/>
          <p:cNvSpPr/>
          <p:nvPr/>
        </p:nvSpPr>
        <p:spPr>
          <a:xfrm>
            <a:off x="571406" y="2214545"/>
            <a:ext cx="199968" cy="200007"/>
          </a:xfrm>
          <a:custGeom>
            <a:rect b="b" l="l" r="r" t="t"/>
            <a:pathLst>
              <a:path extrusionOk="0" h="474091" w="474091">
                <a:moveTo>
                  <a:pt x="215286" y="4816"/>
                </a:moveTo>
                <a:cubicBezTo>
                  <a:pt x="229082" y="-1575"/>
                  <a:pt x="245009" y="-1575"/>
                  <a:pt x="258805" y="4816"/>
                </a:cubicBezTo>
                <a:lnTo>
                  <a:pt x="461220" y="98337"/>
                </a:lnTo>
                <a:cubicBezTo>
                  <a:pt x="469091" y="101948"/>
                  <a:pt x="474091" y="109818"/>
                  <a:pt x="474091" y="118523"/>
                </a:cubicBezTo>
                <a:cubicBezTo>
                  <a:pt x="474091" y="127227"/>
                  <a:pt x="469091" y="135097"/>
                  <a:pt x="461220" y="138709"/>
                </a:cubicBezTo>
                <a:lnTo>
                  <a:pt x="258805" y="232230"/>
                </a:lnTo>
                <a:cubicBezTo>
                  <a:pt x="245009" y="238620"/>
                  <a:pt x="229082" y="238620"/>
                  <a:pt x="215286" y="232230"/>
                </a:cubicBezTo>
                <a:lnTo>
                  <a:pt x="12871" y="138709"/>
                </a:lnTo>
                <a:cubicBezTo>
                  <a:pt x="5000" y="135005"/>
                  <a:pt x="0" y="127134"/>
                  <a:pt x="0" y="118523"/>
                </a:cubicBezTo>
                <a:cubicBezTo>
                  <a:pt x="0" y="109912"/>
                  <a:pt x="5000" y="101948"/>
                  <a:pt x="12871" y="98337"/>
                </a:cubicBezTo>
                <a:lnTo>
                  <a:pt x="215286" y="4816"/>
                </a:lnTo>
                <a:close/>
                <a:moveTo>
                  <a:pt x="44539" y="202230"/>
                </a:moveTo>
                <a:lnTo>
                  <a:pt x="196673" y="272510"/>
                </a:lnTo>
                <a:cubicBezTo>
                  <a:pt x="222323" y="284363"/>
                  <a:pt x="251862" y="284363"/>
                  <a:pt x="277510" y="272510"/>
                </a:cubicBezTo>
                <a:lnTo>
                  <a:pt x="429646" y="202230"/>
                </a:lnTo>
                <a:lnTo>
                  <a:pt x="461220" y="216859"/>
                </a:lnTo>
                <a:cubicBezTo>
                  <a:pt x="469091" y="220471"/>
                  <a:pt x="474091" y="228341"/>
                  <a:pt x="474091" y="237046"/>
                </a:cubicBezTo>
                <a:cubicBezTo>
                  <a:pt x="474091" y="245750"/>
                  <a:pt x="469091" y="253620"/>
                  <a:pt x="461220" y="257232"/>
                </a:cubicBezTo>
                <a:lnTo>
                  <a:pt x="258805" y="350753"/>
                </a:lnTo>
                <a:cubicBezTo>
                  <a:pt x="245009" y="357143"/>
                  <a:pt x="229082" y="357143"/>
                  <a:pt x="215286" y="350753"/>
                </a:cubicBezTo>
                <a:lnTo>
                  <a:pt x="12871" y="257232"/>
                </a:lnTo>
                <a:cubicBezTo>
                  <a:pt x="5000" y="253528"/>
                  <a:pt x="0" y="245657"/>
                  <a:pt x="0" y="237046"/>
                </a:cubicBezTo>
                <a:cubicBezTo>
                  <a:pt x="0" y="228434"/>
                  <a:pt x="5000" y="220471"/>
                  <a:pt x="12871" y="216859"/>
                </a:cubicBezTo>
                <a:lnTo>
                  <a:pt x="44445" y="202230"/>
                </a:lnTo>
                <a:close/>
                <a:moveTo>
                  <a:pt x="12871" y="335382"/>
                </a:moveTo>
                <a:lnTo>
                  <a:pt x="44445" y="320753"/>
                </a:lnTo>
                <a:lnTo>
                  <a:pt x="196581" y="391033"/>
                </a:lnTo>
                <a:cubicBezTo>
                  <a:pt x="222231" y="402885"/>
                  <a:pt x="251768" y="402885"/>
                  <a:pt x="277418" y="391033"/>
                </a:cubicBezTo>
                <a:lnTo>
                  <a:pt x="429552" y="320753"/>
                </a:lnTo>
                <a:lnTo>
                  <a:pt x="461128" y="335382"/>
                </a:lnTo>
                <a:cubicBezTo>
                  <a:pt x="468998" y="338994"/>
                  <a:pt x="473999" y="346864"/>
                  <a:pt x="473999" y="355568"/>
                </a:cubicBezTo>
                <a:cubicBezTo>
                  <a:pt x="473999" y="364273"/>
                  <a:pt x="468998" y="372143"/>
                  <a:pt x="461128" y="375754"/>
                </a:cubicBezTo>
                <a:lnTo>
                  <a:pt x="258713" y="469275"/>
                </a:lnTo>
                <a:cubicBezTo>
                  <a:pt x="244917" y="475666"/>
                  <a:pt x="228990" y="475666"/>
                  <a:pt x="215193" y="469275"/>
                </a:cubicBezTo>
                <a:lnTo>
                  <a:pt x="12871" y="375754"/>
                </a:lnTo>
                <a:cubicBezTo>
                  <a:pt x="5000" y="372051"/>
                  <a:pt x="0" y="364179"/>
                  <a:pt x="0" y="355568"/>
                </a:cubicBezTo>
                <a:cubicBezTo>
                  <a:pt x="0" y="346957"/>
                  <a:pt x="5000" y="338994"/>
                  <a:pt x="12871" y="335382"/>
                </a:cubicBezTo>
                <a:close/>
              </a:path>
            </a:pathLst>
          </a:custGeom>
          <a:solidFill>
            <a:srgbClr val="4A7FB5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7"/>
          <p:cNvSpPr/>
          <p:nvPr/>
        </p:nvSpPr>
        <p:spPr>
          <a:xfrm>
            <a:off x="842780" y="220029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7"/>
          <p:cNvSpPr/>
          <p:nvPr/>
        </p:nvSpPr>
        <p:spPr>
          <a:xfrm>
            <a:off x="791355" y="217457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4A7F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 — Dépendant de la Taille de Batch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7"/>
          <p:cNvSpPr/>
          <p:nvPr/>
        </p:nvSpPr>
        <p:spPr>
          <a:xfrm>
            <a:off x="571406" y="2486025"/>
            <a:ext cx="3749736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7"/>
          <p:cNvSpPr/>
          <p:nvPr/>
        </p:nvSpPr>
        <p:spPr>
          <a:xfrm>
            <a:off x="519981" y="2460308"/>
            <a:ext cx="3852586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Acceptable sur BERT (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89,56%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mais instable sur GPT (</a:t>
            </a:r>
            <a:r>
              <a:rPr b="1"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76,15%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avec batch=16. Viable uniquement avec des tailles de batch &gt;512.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7"/>
          <p:cNvSpPr/>
          <p:nvPr/>
        </p:nvSpPr>
        <p:spPr>
          <a:xfrm>
            <a:off x="4678225" y="2114568"/>
            <a:ext cx="4035413" cy="1214455"/>
          </a:xfrm>
          <a:prstGeom prst="roundRect">
            <a:avLst>
              <a:gd fmla="val 8000" name="adj"/>
            </a:avLst>
          </a:prstGeom>
          <a:solidFill>
            <a:srgbClr val="C75B3F">
              <a:alpha val="0"/>
            </a:srgbClr>
          </a:solidFill>
          <a:ln cap="flat" cmpd="sng" w="12700">
            <a:solidFill>
              <a:srgbClr val="C75B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7"/>
          <p:cNvSpPr/>
          <p:nvPr/>
        </p:nvSpPr>
        <p:spPr>
          <a:xfrm>
            <a:off x="4821090" y="2214545"/>
            <a:ext cx="199968" cy="200007"/>
          </a:xfrm>
          <a:custGeom>
            <a:rect b="b" l="l" r="r" t="t"/>
            <a:pathLst>
              <a:path extrusionOk="0" h="474091" w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75B3F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7"/>
          <p:cNvSpPr/>
          <p:nvPr/>
        </p:nvSpPr>
        <p:spPr>
          <a:xfrm>
            <a:off x="5092517" y="2200293"/>
            <a:ext cx="3478309" cy="22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7"/>
          <p:cNvSpPr/>
          <p:nvPr/>
        </p:nvSpPr>
        <p:spPr>
          <a:xfrm>
            <a:off x="5041092" y="2174575"/>
            <a:ext cx="3581159" cy="280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SGD — Ne Jamais Utiliser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7"/>
          <p:cNvSpPr/>
          <p:nvPr/>
        </p:nvSpPr>
        <p:spPr>
          <a:xfrm>
            <a:off x="4821090" y="2486025"/>
            <a:ext cx="3749736" cy="714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7"/>
          <p:cNvSpPr/>
          <p:nvPr/>
        </p:nvSpPr>
        <p:spPr>
          <a:xfrm>
            <a:off x="4769665" y="2460308"/>
            <a:ext cx="3852586" cy="76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Échec systématique sur TOUTES les architectures et tâches.</a:t>
            </a: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~50% de précision ≈ baseline aléatoire. Non adapté aux transformers.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7"/>
          <p:cNvSpPr/>
          <p:nvPr/>
        </p:nvSpPr>
        <p:spPr>
          <a:xfrm>
            <a:off x="428541" y="3457557"/>
            <a:ext cx="8285150" cy="571518"/>
          </a:xfrm>
          <a:prstGeom prst="roundRect">
            <a:avLst>
              <a:gd fmla="val 6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599958" y="3600450"/>
            <a:ext cx="228573" cy="228618"/>
          </a:xfrm>
          <a:custGeom>
            <a:rect b="b" l="l" r="r" t="t"/>
            <a:pathLst>
              <a:path extrusionOk="0" h="541909" w="541909">
                <a:moveTo>
                  <a:pt x="291181" y="-20004"/>
                </a:moveTo>
                <a:cubicBezTo>
                  <a:pt x="287325" y="-28472"/>
                  <a:pt x="279517" y="-33869"/>
                  <a:pt x="271049" y="-33869"/>
                </a:cubicBezTo>
                <a:cubicBezTo>
                  <a:pt x="262582" y="-33869"/>
                  <a:pt x="254772" y="-28472"/>
                  <a:pt x="250916" y="-20004"/>
                </a:cubicBezTo>
                <a:lnTo>
                  <a:pt x="181672" y="132620"/>
                </a:lnTo>
                <a:lnTo>
                  <a:pt x="31234" y="159503"/>
                </a:lnTo>
                <a:cubicBezTo>
                  <a:pt x="22862" y="160985"/>
                  <a:pt x="15900" y="167653"/>
                  <a:pt x="13265" y="176755"/>
                </a:cubicBezTo>
                <a:cubicBezTo>
                  <a:pt x="10631" y="185859"/>
                  <a:pt x="12796" y="195807"/>
                  <a:pt x="18723" y="202581"/>
                </a:cubicBezTo>
                <a:lnTo>
                  <a:pt x="126351" y="323769"/>
                </a:lnTo>
                <a:lnTo>
                  <a:pt x="102643" y="493011"/>
                </a:lnTo>
                <a:cubicBezTo>
                  <a:pt x="101325" y="502430"/>
                  <a:pt x="104807" y="511956"/>
                  <a:pt x="111674" y="517566"/>
                </a:cubicBezTo>
                <a:cubicBezTo>
                  <a:pt x="118543" y="523176"/>
                  <a:pt x="127574" y="524022"/>
                  <a:pt x="135195" y="519682"/>
                </a:cubicBezTo>
                <a:lnTo>
                  <a:pt x="271049" y="441995"/>
                </a:lnTo>
                <a:lnTo>
                  <a:pt x="406808" y="519682"/>
                </a:lnTo>
                <a:cubicBezTo>
                  <a:pt x="414335" y="524022"/>
                  <a:pt x="423461" y="523176"/>
                  <a:pt x="430328" y="517566"/>
                </a:cubicBezTo>
                <a:cubicBezTo>
                  <a:pt x="437197" y="511956"/>
                  <a:pt x="440677" y="502537"/>
                  <a:pt x="439360" y="493011"/>
                </a:cubicBezTo>
                <a:lnTo>
                  <a:pt x="415558" y="323769"/>
                </a:lnTo>
                <a:lnTo>
                  <a:pt x="523186" y="202581"/>
                </a:lnTo>
                <a:cubicBezTo>
                  <a:pt x="529208" y="195807"/>
                  <a:pt x="531278" y="185859"/>
                  <a:pt x="528644" y="176755"/>
                </a:cubicBezTo>
                <a:cubicBezTo>
                  <a:pt x="526009" y="167653"/>
                  <a:pt x="519142" y="160985"/>
                  <a:pt x="510675" y="159503"/>
                </a:cubicBezTo>
                <a:lnTo>
                  <a:pt x="360332" y="132620"/>
                </a:lnTo>
                <a:lnTo>
                  <a:pt x="291181" y="-20004"/>
                </a:lnTo>
                <a:close/>
              </a:path>
            </a:pathLst>
          </a:custGeom>
          <a:solidFill>
            <a:srgbClr val="D4A373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7"/>
          <p:cNvSpPr/>
          <p:nvPr/>
        </p:nvSpPr>
        <p:spPr>
          <a:xfrm>
            <a:off x="914239" y="3514725"/>
            <a:ext cx="2856924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7"/>
          <p:cNvSpPr/>
          <p:nvPr/>
        </p:nvSpPr>
        <p:spPr>
          <a:xfrm>
            <a:off x="862814" y="3489007"/>
            <a:ext cx="2959774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BERT &gt; GPT pour la Classification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7"/>
          <p:cNvSpPr/>
          <p:nvPr/>
        </p:nvSpPr>
        <p:spPr>
          <a:xfrm>
            <a:off x="914239" y="3743343"/>
            <a:ext cx="7656587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862814" y="3717625"/>
            <a:ext cx="7759437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bidirectionnalité rend BERT systématiquement supérieur pour les tâches discriminatives à travers toutes les configurations d'optimiseurs.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7"/>
          <p:cNvSpPr/>
          <p:nvPr/>
        </p:nvSpPr>
        <p:spPr>
          <a:xfrm>
            <a:off x="428541" y="4929188"/>
            <a:ext cx="499963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7"/>
          <p:cNvSpPr/>
          <p:nvPr/>
        </p:nvSpPr>
        <p:spPr>
          <a:xfrm>
            <a:off x="377116" y="4903470"/>
            <a:ext cx="510248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Optimisation NLP | FSBM · Université Hassan II · 2025-2026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7"/>
          <p:cNvSpPr/>
          <p:nvPr/>
        </p:nvSpPr>
        <p:spPr>
          <a:xfrm>
            <a:off x="8427961" y="4929188"/>
            <a:ext cx="428541" cy="142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7"/>
          <p:cNvSpPr/>
          <p:nvPr/>
        </p:nvSpPr>
        <p:spPr>
          <a:xfrm>
            <a:off x="8376536" y="4903470"/>
            <a:ext cx="531391" cy="194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8"/>
          <p:cNvSpPr/>
          <p:nvPr/>
        </p:nvSpPr>
        <p:spPr>
          <a:xfrm>
            <a:off x="0" y="0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8"/>
          <p:cNvSpPr/>
          <p:nvPr/>
        </p:nvSpPr>
        <p:spPr>
          <a:xfrm>
            <a:off x="7713743" y="-571518"/>
            <a:ext cx="1999842" cy="2000232"/>
          </a:xfrm>
          <a:prstGeom prst="ellipse">
            <a:avLst/>
          </a:prstGeom>
          <a:solidFill>
            <a:srgbClr val="0D7377">
              <a:alpha val="392"/>
            </a:srgbClr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8"/>
          <p:cNvSpPr/>
          <p:nvPr/>
        </p:nvSpPr>
        <p:spPr>
          <a:xfrm>
            <a:off x="1142759" y="1142982"/>
            <a:ext cx="6856661" cy="571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8"/>
          <p:cNvSpPr/>
          <p:nvPr/>
        </p:nvSpPr>
        <p:spPr>
          <a:xfrm>
            <a:off x="1091334" y="1117265"/>
            <a:ext cx="6959511" cy="622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Merci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8"/>
          <p:cNvSpPr/>
          <p:nvPr/>
        </p:nvSpPr>
        <p:spPr>
          <a:xfrm>
            <a:off x="1428489" y="1785920"/>
            <a:ext cx="628525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8"/>
          <p:cNvSpPr/>
          <p:nvPr/>
        </p:nvSpPr>
        <p:spPr>
          <a:xfrm>
            <a:off x="1377064" y="1760202"/>
            <a:ext cx="638810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D73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Discussion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8"/>
          <p:cNvSpPr/>
          <p:nvPr/>
        </p:nvSpPr>
        <p:spPr>
          <a:xfrm>
            <a:off x="3142654" y="2214545"/>
            <a:ext cx="2856924" cy="14305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8"/>
          <p:cNvSpPr/>
          <p:nvPr/>
        </p:nvSpPr>
        <p:spPr>
          <a:xfrm>
            <a:off x="1142759" y="2428857"/>
            <a:ext cx="6856661" cy="714357"/>
          </a:xfrm>
          <a:prstGeom prst="roundRect">
            <a:avLst>
              <a:gd fmla="val 8000" name="adj"/>
            </a:avLst>
          </a:prstGeom>
          <a:solidFill>
            <a:srgbClr val="0D7377">
              <a:alpha val="392"/>
            </a:srgbClr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8"/>
          <p:cNvSpPr/>
          <p:nvPr/>
        </p:nvSpPr>
        <p:spPr>
          <a:xfrm>
            <a:off x="1285624" y="2486025"/>
            <a:ext cx="6570984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8"/>
          <p:cNvSpPr/>
          <p:nvPr/>
        </p:nvSpPr>
        <p:spPr>
          <a:xfrm>
            <a:off x="1234199" y="2460308"/>
            <a:ext cx="6673834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Point Clé :</a:t>
            </a:r>
            <a:r>
              <a:rPr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AdamW est l'optimiseur de choix pour le fine-tuning de transformers.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AdaFactor quand la mémoire compte. </a:t>
            </a:r>
            <a:r>
              <a:rPr lang="fr" sz="1000">
                <a:solidFill>
                  <a:srgbClr val="C75B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Jamais SGD.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8"/>
          <p:cNvSpPr/>
          <p:nvPr/>
        </p:nvSpPr>
        <p:spPr>
          <a:xfrm>
            <a:off x="1142759" y="3429000"/>
            <a:ext cx="6856661" cy="200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8"/>
          <p:cNvSpPr/>
          <p:nvPr/>
        </p:nvSpPr>
        <p:spPr>
          <a:xfrm>
            <a:off x="1091334" y="3403282"/>
            <a:ext cx="6959511" cy="251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ABLOU Fatima Zahra · ABRABRI Zineb · FOUZI Hajar · ELAAZZAOUI Mohamed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8"/>
          <p:cNvSpPr/>
          <p:nvPr/>
        </p:nvSpPr>
        <p:spPr>
          <a:xfrm>
            <a:off x="1142759" y="3671870"/>
            <a:ext cx="68566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8"/>
          <p:cNvSpPr/>
          <p:nvPr/>
        </p:nvSpPr>
        <p:spPr>
          <a:xfrm>
            <a:off x="1091334" y="3646152"/>
            <a:ext cx="6959511" cy="222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636E7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Encadrante : Pr. BENABBOU Fouzia  ·  FSBM — Université Hassan II de Casablanca  ·  2025–2026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8"/>
          <p:cNvSpPr/>
          <p:nvPr/>
        </p:nvSpPr>
        <p:spPr>
          <a:xfrm>
            <a:off x="0" y="5100638"/>
            <a:ext cx="9142232" cy="42863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38575" lIns="38575" spcFirstLastPara="1" rIns="38575" wrap="square" tIns="3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